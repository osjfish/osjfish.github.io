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封面。节目名把两个作品各取一字：《丰碑》的“丰碑”与《精忠报国》的“精忠”。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时间轴按秒对齐预录音轨：风雪5″、朗诵105″、合唱173″（齐诵转场与间奏齐诵含在内）、点题22″、定格10″，总长5′15″。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群诵=合唱四排齐声。精简稿约260字，按领诵2.5字/秒＋气口约1′45″；女领②在朗诵段先于群诵位置待命。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“他就是军需处长”之后必须留足2秒静场，这是全篇最大的泪点，不要抢。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主歌二已剪去，让位结尾点题（第8页）；间奏齐诵务必卡在20秒内收字，收字落在副歌前一拍。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点题四句共约40字，按2字/秒＋气口约22秒。彩排若超时，删女领①第二句，直接“每一代人……”接全体。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话筒全为立式架：麦1/麦2给领诵，麦3/麦4给领唱。朗诵段领诵从两侧口上前区，避免穿越队形。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每次合排全程掐表并录像；目标5′45″，给上下场留15秒余量。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1188720"/>
            <a:ext cx="4297680" cy="4297680"/>
          </a:xfrm>
          <a:prstGeom prst="star5">
            <a:avLst/>
          </a:prstGeom>
          <a:solidFill>
            <a:srgbClr val="3A1D20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1298448"/>
            <a:ext cx="329184" cy="329184"/>
          </a:xfrm>
          <a:prstGeom prst="star5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班级合唱比赛 · 六分钟节目设计方案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212848"/>
            <a:ext cx="10515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《精忠·丰碑》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502920" y="361188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2C2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情景朗诵《丰碑》 × 合唱《精忠报国》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2920" y="4224528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4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朗诵与合唱有机融合 · 至少一个部分与长征有关 · 全程 5 分半以内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58064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C4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排合唱队形　　　4 支话筒　　　可预录音轨对口型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138160" y="58064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D9C4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节目筹备组 · 2026 年 9 月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246888" cy="246888"/>
          </a:xfrm>
          <a:prstGeom prst="star5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一座丰碑 × 一曲报国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745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节目概览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700784"/>
            <a:ext cx="225491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5′30″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487168"/>
            <a:ext cx="225491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总时长（上限）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12110" y="1700784"/>
            <a:ext cx="225491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A61B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+ 1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2712110" y="2487168"/>
            <a:ext cx="225491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朗诵 × 合唱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12110" y="1828800"/>
            <a:ext cx="0" cy="868680"/>
          </a:xfrm>
          <a:prstGeom prst="line">
            <a:avLst/>
          </a:prstGeom>
          <a:noFill/>
          <a:ln w="9525">
            <a:solidFill>
              <a:srgbClr val="E5D8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67021" y="1700784"/>
            <a:ext cx="225491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A61B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+ 2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967021" y="2487168"/>
            <a:ext cx="225491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领诵 + 领唱（人）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967021" y="1828800"/>
            <a:ext cx="0" cy="868680"/>
          </a:xfrm>
          <a:prstGeom prst="line">
            <a:avLst/>
          </a:prstGeom>
          <a:noFill/>
          <a:ln w="9525">
            <a:solidFill>
              <a:srgbClr val="E5D8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21931" y="1700784"/>
            <a:ext cx="225491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A61B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× 13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7221931" y="2487168"/>
            <a:ext cx="225491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合唱队形（以52人计）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221931" y="1828800"/>
            <a:ext cx="0" cy="868680"/>
          </a:xfrm>
          <a:prstGeom prst="line">
            <a:avLst/>
          </a:prstGeom>
          <a:noFill/>
          <a:ln w="9525">
            <a:solidFill>
              <a:srgbClr val="E5D8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76842" y="1700784"/>
            <a:ext cx="225491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A61B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9476842" y="2487168"/>
            <a:ext cx="225491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话筒（支）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476842" y="1828800"/>
            <a:ext cx="0" cy="868680"/>
          </a:xfrm>
          <a:prstGeom prst="line">
            <a:avLst/>
          </a:prstGeom>
          <a:noFill/>
          <a:ln w="9525">
            <a:solidFill>
              <a:srgbClr val="E5D8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3108960"/>
            <a:ext cx="12188952" cy="969264"/>
          </a:xfrm>
          <a:prstGeom prst="rect">
            <a:avLst/>
          </a:prstGeom>
          <a:solidFill>
            <a:srgbClr val="F8F0F0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108960"/>
            <a:ext cx="10908792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立意：以长征雪山上军需处长的牺牲讲“忠”，以《精忠报国》的歌声答“魂”——一座晶莹的丰碑，一曲嘹亮的报国。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57200" y="4434840"/>
            <a:ext cx="3557016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5D8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" y="4590288"/>
            <a:ext cx="3154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61B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命题要求 ①　至少一个部分与长征有关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76656" y="5138928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朗诵《丰碑》——红军翻越雪山、军需处长冻亡的真实故事，课文级红色经典。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315968" y="4434840"/>
            <a:ext cx="3557016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5D8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35424" y="4590288"/>
            <a:ext cx="3154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61B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命题要求 ②　包含合唱与朗诵，有机融合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35424" y="5138928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前奏齐诵转场接唱；间奏齐诵《过雪山草地》二次点题；尾声敬礼定格同台收束。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174736" y="4434840"/>
            <a:ext cx="3557016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5D8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94192" y="4590288"/>
            <a:ext cx="3154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61B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命题要求 ③　从上场到下场不超过 6 分钟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394192" y="5138928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自定 5′30″ 上限：朗诵 1′45″ ＋ 合唱 2′53″ ＋ 暗场/点题/定格 37″ ＝ 5′15″，留 15″ 余量。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0881360" y="6419088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/ 14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246888" cy="246888"/>
          </a:xfrm>
          <a:prstGeom prst="star5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选题逻辑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745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创意阐述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3310128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5875">
            <a:solidFill>
              <a:srgbClr val="A61B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05740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61B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《丰碑》· 情景朗诵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2880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长征 · 雪山 · 军需处长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2825496"/>
            <a:ext cx="2880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过雪山真实故事，课文级经典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68680" y="3200400"/>
            <a:ext cx="2880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命中命题：与长征有关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38744" y="1874520"/>
            <a:ext cx="3310128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5875">
            <a:solidFill>
              <a:srgbClr val="A61B2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67344" y="205740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61B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《精忠报国》· 合唱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467344" y="2514600"/>
            <a:ext cx="2880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豪情 · 忠魂 · 报国志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467344" y="2825496"/>
            <a:ext cx="2880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全民传唱的主旋律军歌风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467344" y="3200400"/>
            <a:ext cx="2880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命中命题：主旋律 · 正能量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221224" y="1892808"/>
            <a:ext cx="1755648" cy="1755648"/>
          </a:xfrm>
          <a:prstGeom prst="ellipse">
            <a:avLst/>
          </a:prstGeom>
          <a:solidFill>
            <a:srgbClr val="A61B29"/>
          </a:solidFill>
          <a:ln w="25400">
            <a:solidFill>
              <a:srgbClr val="C9A2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21224" y="1892808"/>
            <a:ext cx="1755648" cy="1755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精忠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丰碑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4059936" y="2770632"/>
            <a:ext cx="1051560" cy="0"/>
          </a:xfrm>
          <a:prstGeom prst="line">
            <a:avLst/>
          </a:prstGeom>
          <a:noFill/>
          <a:ln w="25400">
            <a:solidFill>
              <a:srgbClr val="A61B29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077456" y="2770632"/>
            <a:ext cx="1051560" cy="0"/>
          </a:xfrm>
          <a:prstGeom prst="line">
            <a:avLst/>
          </a:prstGeom>
          <a:noFill/>
          <a:ln w="25400">
            <a:solidFill>
              <a:srgbClr val="A61B29"/>
            </a:solidFill>
            <a:prstDash val="solid"/>
            <a:headEnd type="triangle"/>
          </a:ln>
        </p:spPr>
      </p:sp>
      <p:sp>
        <p:nvSpPr>
          <p:cNvPr id="19" name="Text 17"/>
          <p:cNvSpPr/>
          <p:nvPr/>
        </p:nvSpPr>
        <p:spPr>
          <a:xfrm>
            <a:off x="457200" y="406908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57200" y="461772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前奏齐诵转场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7200" y="498348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“红军不怕远征难”压着鼓点起，朗诵无缝接唱，避免报幕式割裂。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315968" y="406908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4315968" y="461772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间奏二次点题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315968" y="498348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20″间奏齐诵“红军都是钢铁汉”，长征题材再点一次，呼应最严命题。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174736" y="406908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8174736" y="461772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尾声语录点题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174736" y="498348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尾奏上齐诵总书记长征语录“走好自己的长征路”，注目礼定格，同台收束。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57200" y="5943600"/>
            <a:ext cx="11274552" cy="0"/>
          </a:xfrm>
          <a:prstGeom prst="line">
            <a:avLst/>
          </a:prstGeom>
          <a:noFill/>
          <a:ln w="9525">
            <a:solidFill>
              <a:srgbClr val="E5D8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6053328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时长账：朗诵 1′45″ ＋ 合唱 2′53″ ＋ 暗场/点题/定格 37″ ＝ 5′15″，与第 4 页时间轴一致。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0881360" y="6419088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/ 14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246888" cy="246888"/>
          </a:xfrm>
          <a:prstGeom prst="star5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全流程 5′15″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745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五分半时间轴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178961" cy="777240"/>
          </a:xfrm>
          <a:prstGeom prst="rect">
            <a:avLst/>
          </a:prstGeom>
          <a:solidFill>
            <a:srgbClr val="3A1D20"/>
          </a:solidFill>
          <a:ln/>
        </p:spPr>
      </p:sp>
      <p:sp>
        <p:nvSpPr>
          <p:cNvPr id="6" name="Shape 4"/>
          <p:cNvSpPr/>
          <p:nvPr/>
        </p:nvSpPr>
        <p:spPr>
          <a:xfrm>
            <a:off x="636161" y="1920240"/>
            <a:ext cx="3758184" cy="777240"/>
          </a:xfrm>
          <a:prstGeom prst="rect">
            <a:avLst/>
          </a:prstGeom>
          <a:solidFill>
            <a:srgbClr val="A61B29"/>
          </a:solidFill>
          <a:ln/>
        </p:spPr>
      </p:sp>
      <p:sp>
        <p:nvSpPr>
          <p:cNvPr id="7" name="Text 5"/>
          <p:cNvSpPr/>
          <p:nvPr/>
        </p:nvSpPr>
        <p:spPr>
          <a:xfrm>
            <a:off x="745889" y="1920240"/>
            <a:ext cx="35387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朗诵《丰碑》 105″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94345" y="1920240"/>
            <a:ext cx="6192056" cy="777240"/>
          </a:xfrm>
          <a:prstGeom prst="rect">
            <a:avLst/>
          </a:prstGeom>
          <a:solidFill>
            <a:srgbClr val="7C1420"/>
          </a:solidFill>
          <a:ln/>
        </p:spPr>
      </p:sp>
      <p:sp>
        <p:nvSpPr>
          <p:cNvPr id="9" name="Text 7"/>
          <p:cNvSpPr/>
          <p:nvPr/>
        </p:nvSpPr>
        <p:spPr>
          <a:xfrm>
            <a:off x="4504073" y="1920240"/>
            <a:ext cx="5972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合唱《精忠报国》 173″（齐诵转场＋间奏齐诵）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10586401" y="1920240"/>
            <a:ext cx="787429" cy="7772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1" name="Shape 9"/>
          <p:cNvSpPr/>
          <p:nvPr/>
        </p:nvSpPr>
        <p:spPr>
          <a:xfrm>
            <a:off x="11373830" y="1920240"/>
            <a:ext cx="357922" cy="777240"/>
          </a:xfrm>
          <a:prstGeom prst="rect">
            <a:avLst/>
          </a:prstGeom>
          <a:solidFill>
            <a:srgbClr val="5A2A2E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481328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暗场 5″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1792224"/>
            <a:ext cx="0" cy="128016"/>
          </a:xfrm>
          <a:prstGeom prst="line">
            <a:avLst/>
          </a:prstGeom>
          <a:noFill/>
          <a:ln w="9525">
            <a:solidFill>
              <a:srgbClr val="8C8C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20072" y="1481328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点题 22″ · 定格 10″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81944" y="1792224"/>
            <a:ext cx="0" cy="128016"/>
          </a:xfrm>
          <a:prstGeom prst="line">
            <a:avLst/>
          </a:prstGeom>
          <a:noFill/>
          <a:ln w="9525">
            <a:solidFill>
              <a:srgbClr val="8C8C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0" y="27432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0:00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937406" y="27432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1:50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129723" y="27432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4:43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6422" y="2715768"/>
            <a:ext cx="0" cy="310896"/>
          </a:xfrm>
          <a:prstGeom prst="line">
            <a:avLst/>
          </a:prstGeom>
          <a:noFill/>
          <a:ln w="9525">
            <a:solidFill>
              <a:srgbClr val="8C8C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6382" y="30266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0:05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1552530" y="2715768"/>
            <a:ext cx="0" cy="310896"/>
          </a:xfrm>
          <a:prstGeom prst="line">
            <a:avLst/>
          </a:prstGeom>
          <a:noFill/>
          <a:ln w="9525">
            <a:solidFill>
              <a:srgbClr val="8C8C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232490" y="30266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5:15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3246120"/>
            <a:ext cx="21214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暗场 0:00–0:05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3593592"/>
            <a:ext cx="21214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风雪声渐起，LED雪山剪影亮起。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712110" y="3246120"/>
            <a:ext cx="21214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朗诵 0:05–1:50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712110" y="3593592"/>
            <a:ext cx="21214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精简稿 1′45″；群诵两次插入。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67021" y="3246120"/>
            <a:ext cx="21214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 合唱 1:50–4:43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67021" y="3593592"/>
            <a:ext cx="21214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前奏齐诵转场；间奏齐诵20″点题。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221931" y="3246120"/>
            <a:ext cx="21214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④ 点题 4:43–5:05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221931" y="3593592"/>
            <a:ext cx="21214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总书记长征语录，领诵＋全体。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476842" y="3246120"/>
            <a:ext cx="21214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⑤ 定格 5:05–5:15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476842" y="3593592"/>
            <a:ext cx="21214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注目礼定格5″，音乐收。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0" y="5779008"/>
            <a:ext cx="274320" cy="274320"/>
          </a:xfrm>
          <a:prstGeom prst="star5">
            <a:avLst/>
          </a:prstGeom>
          <a:solidFill>
            <a:srgbClr val="C9A227"/>
          </a:solidFill>
          <a:ln/>
        </p:spPr>
      </p:sp>
      <p:sp>
        <p:nvSpPr>
          <p:cNvPr id="34" name="Text 32"/>
          <p:cNvSpPr/>
          <p:nvPr/>
        </p:nvSpPr>
        <p:spPr>
          <a:xfrm>
            <a:off x="4983480" y="5705856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61B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彩排验收：全程掐表 5′15″ ± 10″</a:t>
            </a:r>
            <a:endParaRPr lang="en-US" sz="2000" dirty="0"/>
          </a:p>
        </p:txBody>
      </p:sp>
      <p:sp>
        <p:nvSpPr>
          <p:cNvPr id="36" name="Text 33"/>
          <p:cNvSpPr/>
          <p:nvPr/>
        </p:nvSpPr>
        <p:spPr>
          <a:xfrm>
            <a:off x="10881360" y="6419088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/ 14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246888" cy="246888"/>
          </a:xfrm>
          <a:prstGeom prst="star5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李本深《丰碑》改编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745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朗诵分工稿（上）：风雪山林</a:t>
            </a:r>
            <a:endParaRPr lang="en-US" sz="3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72768"/>
          <a:ext cx="11274552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6949440"/>
                <a:gridCol w="309067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角色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1B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台词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1B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表演处理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1B2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C8C8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音效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风雪声渐起 5 秒；LED 亮出雪山剪影，全场暗场起光。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C8C8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音乐先行，压住安静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A61B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女领①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1935 年冬，云中山，大雪封山。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C8C8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声音清冷，字字落地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A61B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男领①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红军队伍在冰天雪地里艰难地前进。狂风呼啸，大雪纷飞，似乎要吞掉这支装备很差的队伍。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C8C8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沉缓厚重，压过风声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A61B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女领①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队伍忽然放慢了速度——前面有人冻死了！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C8C8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骤然揪起，语速加快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A61B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男领①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一个冻僵的老战士，依靠光秃秃的树干坐着。他一动不动，好似一尊塑像，身上落满了雪。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C8C8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最慢一段，逐字描摹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A61B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男领②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把军需处长给我叫来！为什么不给他发棉衣？！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C8C8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怒音放开，全篇最响之一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03504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改编自李本深《丰碑》（统编课文，又名《军需处长》）；为卡进 5 分半，删去“让马”“思索”“神态”三句与一次群诵。领诵站位见第 9 页队形图。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0881360" y="6419088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 / 14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246888" cy="246888"/>
          </a:xfrm>
          <a:prstGeom prst="star5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李本深《丰碑》改编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745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朗诵分工稿（下）：晶莹的丰碑</a:t>
            </a:r>
            <a:endParaRPr lang="en-US" sz="3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72768"/>
          <a:ext cx="11274552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6949440"/>
                <a:gridCol w="309067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角色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1B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台词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1B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表演处理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1B2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A61B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女领①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有人小声告诉将军——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C8C8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欲言又止，吊住全场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A61B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男领①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……他就是军需处长。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C8C8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极轻极慢，静场两秒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A61B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男领②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将军愣住了。他深深吸了一口气，缓缓举起右手——向军需处长敬了一个军礼！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C8C8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随句敬礼，全体注目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A61B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女领②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风更狂了，雪更大了。大雪很快覆盖了他——他，成了一座晶莹的丰碑！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C8C8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“晶莹的丰碑”一字一顿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A61B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群诵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晶莹的——丰碑——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C8C8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回声式，由弱到强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A61B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男领①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如果胜利不属于这样的队伍，还会属于谁呢？！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C8C8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层层推高，问句砸实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A61B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全体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红军不怕远征难，万水千山只等闲！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C8C8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最强音；《精忠报国》鼓点从此句压进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5257800"/>
            <a:ext cx="12188952" cy="777240"/>
          </a:xfrm>
          <a:prstGeom prst="rect">
            <a:avLst/>
          </a:prstGeom>
          <a:solidFill>
            <a:srgbClr val="F8F0F0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5257800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转场：末句“红军不怕远征难”（毛泽东《七律·长征》）压《精忠报国》前奏战鼓——鼓点在“万水千山”处预进，收字即全体起势，无缝接唱。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10881360" y="6419088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 / 14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246888" cy="246888"/>
          </a:xfrm>
          <a:prstGeom prst="star5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萧华《长征组歌》点题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745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合唱编排：《精忠报国》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4297680" cy="640080"/>
          </a:xfrm>
          <a:prstGeom prst="roundRect">
            <a:avLst>
              <a:gd name="adj" fmla="val 7143"/>
            </a:avLst>
          </a:prstGeom>
          <a:solidFill>
            <a:srgbClr val="FBF7F7"/>
          </a:solidFill>
          <a:ln w="9525">
            <a:solidFill>
              <a:srgbClr val="E5D8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73736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前奏 · 齐诵压鼓点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703320" y="17373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15″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441448"/>
            <a:ext cx="4297680" cy="640080"/>
          </a:xfrm>
          <a:prstGeom prst="roundRect">
            <a:avLst>
              <a:gd name="adj" fmla="val 7143"/>
            </a:avLst>
          </a:prstGeom>
          <a:solidFill>
            <a:srgbClr val="FBF7F7"/>
          </a:solidFill>
          <a:ln w="9525">
            <a:solidFill>
              <a:srgbClr val="E5D8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487168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主歌一 · 男领唱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703320" y="248716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35″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191256"/>
            <a:ext cx="4297680" cy="640080"/>
          </a:xfrm>
          <a:prstGeom prst="roundRect">
            <a:avLst>
              <a:gd name="adj" fmla="val 7143"/>
            </a:avLst>
          </a:prstGeom>
          <a:solidFill>
            <a:srgbClr val="FBF7F7"/>
          </a:solidFill>
          <a:ln w="9525">
            <a:solidFill>
              <a:srgbClr val="E5D8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3236976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 副歌一 · 全体合唱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03320" y="3236976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40″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941064"/>
            <a:ext cx="4297680" cy="640080"/>
          </a:xfrm>
          <a:prstGeom prst="roundRect">
            <a:avLst>
              <a:gd name="adj" fmla="val 7143"/>
            </a:avLst>
          </a:prstGeom>
          <a:solidFill>
            <a:srgbClr val="FBF7F7"/>
          </a:solidFill>
          <a:ln w="9525">
            <a:solidFill>
              <a:srgbClr val="E5D8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3986784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④ 间奏 · 插入齐诵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703320" y="3986784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20″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4690872"/>
            <a:ext cx="4297680" cy="640080"/>
          </a:xfrm>
          <a:prstGeom prst="roundRect">
            <a:avLst>
              <a:gd name="adj" fmla="val 7143"/>
            </a:avLst>
          </a:prstGeom>
          <a:solidFill>
            <a:srgbClr val="FBF7F7"/>
          </a:solidFill>
          <a:ln w="9525">
            <a:solidFill>
              <a:srgbClr val="E5D8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473659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⑤ 副歌二 · 全体合唱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703320" y="4736592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40″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7200" y="5440680"/>
            <a:ext cx="4297680" cy="640080"/>
          </a:xfrm>
          <a:prstGeom prst="roundRect">
            <a:avLst>
              <a:gd name="adj" fmla="val 7143"/>
            </a:avLst>
          </a:prstGeom>
          <a:solidFill>
            <a:srgbClr val="F8F0F0"/>
          </a:solidFill>
          <a:ln w="9525">
            <a:solidFill>
              <a:srgbClr val="E5D8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548640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61B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⑥ 尾句 · 渐慢收拍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703320" y="54864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23″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120640" y="1691640"/>
            <a:ext cx="6611112" cy="1828800"/>
          </a:xfrm>
          <a:prstGeom prst="rect">
            <a:avLst/>
          </a:prstGeom>
          <a:solidFill>
            <a:srgbClr val="F8F0F0"/>
          </a:solidFill>
          <a:ln/>
        </p:spPr>
      </p:sp>
      <p:sp>
        <p:nvSpPr>
          <p:cNvPr id="24" name="Text 22"/>
          <p:cNvSpPr/>
          <p:nvPr/>
        </p:nvSpPr>
        <p:spPr>
          <a:xfrm>
            <a:off x="5349240" y="1828800"/>
            <a:ext cx="6172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61B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间奏齐诵（二次点题长征）——《长征组歌·过雪山草地》萧华词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349240" y="2212848"/>
            <a:ext cx="6172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雪皑皑，野茫茫，高原寒，炊断粮。红军都是钢铁汉，千锤百炼不怕难！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349240" y="3035808"/>
            <a:ext cx="6172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四排齐声，音量盖过间奏旋律；两句在 20″ 间奏内完成，收字正好落在副歌前。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120640" y="37673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61B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控时与删减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120640" y="4133088"/>
            <a:ext cx="66111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剪去主歌二（省约 40″），为结尾语录点题让出时间，全曲约 2′53″；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尾句“堂堂中国要让四方来贺”渐慢渐强，唱毕接“结尾点题”（第 8 页）；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合唱队形全程不动，领诵朗诵段进前区、点题段再上前一步。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120640" y="5440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61B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领唱与声部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120640" y="5806440"/>
            <a:ext cx="6611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主歌一：男领唱独唱（麦3）；副歌：领唱带唱，四排合唱铺底；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女声部二声部视排练水平加花；间奏齐诵由合唱四排完成。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10881360" y="6419088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07 / 14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246888" cy="246888"/>
          </a:xfrm>
          <a:prstGeom prst="star5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2016·10·21 纪念红军长征胜利80周年大会讲话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745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结尾点题：走好我们的长征路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0" y="1627632"/>
            <a:ext cx="12188952" cy="731520"/>
          </a:xfrm>
          <a:prstGeom prst="rect">
            <a:avLst/>
          </a:prstGeom>
          <a:solidFill>
            <a:srgbClr val="F8F0F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27632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音乐：尾句唱毕尾奏不停，弦乐垫渐起；LED 转金色点题大字“走好我们这一代人的长征路”。本段约 22″。</a:t>
            </a:r>
            <a:endParaRPr 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06040"/>
          <a:ext cx="11274552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6949440"/>
                <a:gridCol w="309067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角色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1B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台词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1B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表演处理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1B2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A61B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男领②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长征，永远在路上。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C8C8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庄重起句，一字一顿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A61B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女领①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一个不记得来路的民族，是没有出路的民族。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C8C8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沉痛而清醒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A61B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女领②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每一代人有每一代人的长征路——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C8C8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层层扬起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A61B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全体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每一代人，都要走好自己的长征路！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C8C8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最强音；收字即注目礼定格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4983480"/>
            <a:ext cx="355701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5D8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76656" y="5102352"/>
            <a:ext cx="3154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61B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替换句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76656" y="5431536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“心中有信仰，脚下有力量。”（同出此讲话）——可替换第二句，省时更利落；LED 大字随之更换。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15968" y="4983480"/>
            <a:ext cx="3557016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5D8D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35424" y="5102352"/>
            <a:ext cx="3154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61B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语录出处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535424" y="5431536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三句均引自习近平总书记《在纪念红军长征胜利80周年大会上的讲话》（新华社受权发布），报幕词可直接引用。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0881360" y="6419088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08 / 14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246888" cy="246888"/>
          </a:xfrm>
          <a:prstGeom prst="star5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排合唱 × 前区领诵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745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舞台队形与调度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10908792" cy="4114800"/>
          </a:xfrm>
          <a:prstGeom prst="rect">
            <a:avLst/>
          </a:prstGeom>
          <a:solidFill>
            <a:srgbClr val="FBF7F7"/>
          </a:solidFill>
          <a:ln w="12700">
            <a:solidFill>
              <a:srgbClr val="E5D8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5285232"/>
            <a:ext cx="10908792" cy="0"/>
          </a:xfrm>
          <a:prstGeom prst="line">
            <a:avLst/>
          </a:prstGeom>
          <a:noFill/>
          <a:ln w="12700">
            <a:solidFill>
              <a:srgbClr val="8C8C8C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4233672" y="534009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台口 · 观众席方向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60120" y="1627632"/>
            <a:ext cx="182880" cy="182880"/>
          </a:xfrm>
          <a:prstGeom prst="ellipse">
            <a:avLst/>
          </a:prstGeom>
          <a:solidFill>
            <a:srgbClr val="A61B29"/>
          </a:solidFill>
          <a:ln/>
        </p:spPr>
      </p:sp>
      <p:sp>
        <p:nvSpPr>
          <p:cNvPr id="9" name="Text 7"/>
          <p:cNvSpPr/>
          <p:nvPr/>
        </p:nvSpPr>
        <p:spPr>
          <a:xfrm>
            <a:off x="1207008" y="1572768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合唱队员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514600" y="1627632"/>
            <a:ext cx="182880" cy="182880"/>
          </a:xfrm>
          <a:prstGeom prst="rect">
            <a:avLst/>
          </a:prstGeom>
          <a:solidFill>
            <a:srgbClr val="7C1420"/>
          </a:solidFill>
          <a:ln/>
        </p:spPr>
      </p:sp>
      <p:sp>
        <p:nvSpPr>
          <p:cNvPr id="11" name="Text 9"/>
          <p:cNvSpPr/>
          <p:nvPr/>
        </p:nvSpPr>
        <p:spPr>
          <a:xfrm>
            <a:off x="2761488" y="157276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领诵 / 领唱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251960" y="1627632"/>
            <a:ext cx="182880" cy="18288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3" name="Text 11"/>
          <p:cNvSpPr/>
          <p:nvPr/>
        </p:nvSpPr>
        <p:spPr>
          <a:xfrm>
            <a:off x="4498848" y="1572768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话筒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035040" y="1572768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朗诵段上前区；歌曲段退回一排两翼；点题段再上前一步收束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" y="4206240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一排（前）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670048" y="4224528"/>
            <a:ext cx="274320" cy="274320"/>
          </a:xfrm>
          <a:prstGeom prst="ellipse">
            <a:avLst/>
          </a:prstGeom>
          <a:solidFill>
            <a:srgbClr val="A61B29"/>
          </a:solidFill>
          <a:ln/>
        </p:spPr>
      </p:sp>
      <p:sp>
        <p:nvSpPr>
          <p:cNvPr id="17" name="Shape 15"/>
          <p:cNvSpPr/>
          <p:nvPr/>
        </p:nvSpPr>
        <p:spPr>
          <a:xfrm>
            <a:off x="3218688" y="4224528"/>
            <a:ext cx="274320" cy="274320"/>
          </a:xfrm>
          <a:prstGeom prst="ellipse">
            <a:avLst/>
          </a:prstGeom>
          <a:solidFill>
            <a:srgbClr val="A61B29"/>
          </a:solidFill>
          <a:ln/>
        </p:spPr>
      </p:sp>
      <p:sp>
        <p:nvSpPr>
          <p:cNvPr id="18" name="Shape 16"/>
          <p:cNvSpPr/>
          <p:nvPr/>
        </p:nvSpPr>
        <p:spPr>
          <a:xfrm>
            <a:off x="3767328" y="4224528"/>
            <a:ext cx="274320" cy="274320"/>
          </a:xfrm>
          <a:prstGeom prst="ellipse">
            <a:avLst/>
          </a:prstGeom>
          <a:solidFill>
            <a:srgbClr val="A61B29"/>
          </a:solidFill>
          <a:ln/>
        </p:spPr>
      </p:sp>
      <p:sp>
        <p:nvSpPr>
          <p:cNvPr id="19" name="Shape 17"/>
          <p:cNvSpPr/>
          <p:nvPr/>
        </p:nvSpPr>
        <p:spPr>
          <a:xfrm>
            <a:off x="4315968" y="4224528"/>
            <a:ext cx="274320" cy="274320"/>
          </a:xfrm>
          <a:prstGeom prst="ellipse">
            <a:avLst/>
          </a:prstGeom>
          <a:solidFill>
            <a:srgbClr val="A61B29"/>
          </a:solidFill>
          <a:ln/>
        </p:spPr>
      </p:sp>
      <p:sp>
        <p:nvSpPr>
          <p:cNvPr id="20" name="Shape 18"/>
          <p:cNvSpPr/>
          <p:nvPr/>
        </p:nvSpPr>
        <p:spPr>
          <a:xfrm>
            <a:off x="4864608" y="4224528"/>
            <a:ext cx="274320" cy="274320"/>
          </a:xfrm>
          <a:prstGeom prst="ellipse">
            <a:avLst/>
          </a:prstGeom>
          <a:solidFill>
            <a:srgbClr val="A61B29"/>
          </a:solidFill>
          <a:ln/>
        </p:spPr>
      </p:sp>
      <p:sp>
        <p:nvSpPr>
          <p:cNvPr id="21" name="Shape 19"/>
          <p:cNvSpPr/>
          <p:nvPr/>
        </p:nvSpPr>
        <p:spPr>
          <a:xfrm>
            <a:off x="5413248" y="4224528"/>
            <a:ext cx="274320" cy="274320"/>
          </a:xfrm>
          <a:prstGeom prst="ellipse">
            <a:avLst/>
          </a:prstGeom>
          <a:solidFill>
            <a:srgbClr val="A61B29"/>
          </a:solidFill>
          <a:ln/>
        </p:spPr>
      </p:sp>
      <p:sp>
        <p:nvSpPr>
          <p:cNvPr id="22" name="Shape 20"/>
          <p:cNvSpPr/>
          <p:nvPr/>
        </p:nvSpPr>
        <p:spPr>
          <a:xfrm>
            <a:off x="5961888" y="4224528"/>
            <a:ext cx="274320" cy="274320"/>
          </a:xfrm>
          <a:prstGeom prst="ellipse">
            <a:avLst/>
          </a:prstGeom>
          <a:solidFill>
            <a:srgbClr val="A61B29"/>
          </a:solidFill>
          <a:ln/>
        </p:spPr>
      </p:sp>
      <p:sp>
        <p:nvSpPr>
          <p:cNvPr id="23" name="Shape 21"/>
          <p:cNvSpPr/>
          <p:nvPr/>
        </p:nvSpPr>
        <p:spPr>
          <a:xfrm>
            <a:off x="6510528" y="4224528"/>
            <a:ext cx="274320" cy="274320"/>
          </a:xfrm>
          <a:prstGeom prst="ellipse">
            <a:avLst/>
          </a:prstGeom>
          <a:solidFill>
            <a:srgbClr val="A61B29"/>
          </a:solidFill>
          <a:ln/>
        </p:spPr>
      </p:sp>
      <p:sp>
        <p:nvSpPr>
          <p:cNvPr id="24" name="Shape 22"/>
          <p:cNvSpPr/>
          <p:nvPr/>
        </p:nvSpPr>
        <p:spPr>
          <a:xfrm>
            <a:off x="7059168" y="4224528"/>
            <a:ext cx="274320" cy="274320"/>
          </a:xfrm>
          <a:prstGeom prst="ellipse">
            <a:avLst/>
          </a:prstGeom>
          <a:solidFill>
            <a:srgbClr val="A61B29"/>
          </a:solidFill>
          <a:ln/>
        </p:spPr>
      </p:sp>
      <p:sp>
        <p:nvSpPr>
          <p:cNvPr id="25" name="Shape 23"/>
          <p:cNvSpPr/>
          <p:nvPr/>
        </p:nvSpPr>
        <p:spPr>
          <a:xfrm>
            <a:off x="7607808" y="4224528"/>
            <a:ext cx="274320" cy="274320"/>
          </a:xfrm>
          <a:prstGeom prst="ellipse">
            <a:avLst/>
          </a:prstGeom>
          <a:solidFill>
            <a:srgbClr val="A61B29"/>
          </a:solidFill>
          <a:ln/>
        </p:spPr>
      </p:sp>
      <p:sp>
        <p:nvSpPr>
          <p:cNvPr id="26" name="Shape 24"/>
          <p:cNvSpPr/>
          <p:nvPr/>
        </p:nvSpPr>
        <p:spPr>
          <a:xfrm>
            <a:off x="8156448" y="4224528"/>
            <a:ext cx="274320" cy="274320"/>
          </a:xfrm>
          <a:prstGeom prst="ellipse">
            <a:avLst/>
          </a:prstGeom>
          <a:solidFill>
            <a:srgbClr val="A61B29"/>
          </a:solidFill>
          <a:ln/>
        </p:spPr>
      </p:sp>
      <p:sp>
        <p:nvSpPr>
          <p:cNvPr id="27" name="Shape 25"/>
          <p:cNvSpPr/>
          <p:nvPr/>
        </p:nvSpPr>
        <p:spPr>
          <a:xfrm>
            <a:off x="8705088" y="4224528"/>
            <a:ext cx="274320" cy="274320"/>
          </a:xfrm>
          <a:prstGeom prst="ellipse">
            <a:avLst/>
          </a:prstGeom>
          <a:solidFill>
            <a:srgbClr val="A61B29"/>
          </a:solidFill>
          <a:ln/>
        </p:spPr>
      </p:sp>
      <p:sp>
        <p:nvSpPr>
          <p:cNvPr id="28" name="Shape 26"/>
          <p:cNvSpPr/>
          <p:nvPr/>
        </p:nvSpPr>
        <p:spPr>
          <a:xfrm>
            <a:off x="9253728" y="4224528"/>
            <a:ext cx="274320" cy="274320"/>
          </a:xfrm>
          <a:prstGeom prst="ellipse">
            <a:avLst/>
          </a:prstGeom>
          <a:solidFill>
            <a:srgbClr val="A61B29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3639312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二排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670048" y="3657600"/>
            <a:ext cx="274320" cy="274320"/>
          </a:xfrm>
          <a:prstGeom prst="ellipse">
            <a:avLst/>
          </a:prstGeom>
          <a:solidFill>
            <a:srgbClr val="BE5B63"/>
          </a:solidFill>
          <a:ln/>
        </p:spPr>
      </p:sp>
      <p:sp>
        <p:nvSpPr>
          <p:cNvPr id="31" name="Shape 29"/>
          <p:cNvSpPr/>
          <p:nvPr/>
        </p:nvSpPr>
        <p:spPr>
          <a:xfrm>
            <a:off x="3218688" y="3657600"/>
            <a:ext cx="274320" cy="274320"/>
          </a:xfrm>
          <a:prstGeom prst="ellipse">
            <a:avLst/>
          </a:prstGeom>
          <a:solidFill>
            <a:srgbClr val="BE5B63"/>
          </a:solidFill>
          <a:ln/>
        </p:spPr>
      </p:sp>
      <p:sp>
        <p:nvSpPr>
          <p:cNvPr id="32" name="Shape 30"/>
          <p:cNvSpPr/>
          <p:nvPr/>
        </p:nvSpPr>
        <p:spPr>
          <a:xfrm>
            <a:off x="3767328" y="3657600"/>
            <a:ext cx="274320" cy="274320"/>
          </a:xfrm>
          <a:prstGeom prst="ellipse">
            <a:avLst/>
          </a:prstGeom>
          <a:solidFill>
            <a:srgbClr val="BE5B63"/>
          </a:solidFill>
          <a:ln/>
        </p:spPr>
      </p:sp>
      <p:sp>
        <p:nvSpPr>
          <p:cNvPr id="33" name="Shape 31"/>
          <p:cNvSpPr/>
          <p:nvPr/>
        </p:nvSpPr>
        <p:spPr>
          <a:xfrm>
            <a:off x="4315968" y="3657600"/>
            <a:ext cx="274320" cy="274320"/>
          </a:xfrm>
          <a:prstGeom prst="ellipse">
            <a:avLst/>
          </a:prstGeom>
          <a:solidFill>
            <a:srgbClr val="BE5B63"/>
          </a:solidFill>
          <a:ln/>
        </p:spPr>
      </p:sp>
      <p:sp>
        <p:nvSpPr>
          <p:cNvPr id="34" name="Shape 32"/>
          <p:cNvSpPr/>
          <p:nvPr/>
        </p:nvSpPr>
        <p:spPr>
          <a:xfrm>
            <a:off x="4864608" y="3657600"/>
            <a:ext cx="274320" cy="274320"/>
          </a:xfrm>
          <a:prstGeom prst="ellipse">
            <a:avLst/>
          </a:prstGeom>
          <a:solidFill>
            <a:srgbClr val="BE5B63"/>
          </a:solidFill>
          <a:ln/>
        </p:spPr>
      </p:sp>
      <p:sp>
        <p:nvSpPr>
          <p:cNvPr id="35" name="Shape 33"/>
          <p:cNvSpPr/>
          <p:nvPr/>
        </p:nvSpPr>
        <p:spPr>
          <a:xfrm>
            <a:off x="5413248" y="3657600"/>
            <a:ext cx="274320" cy="274320"/>
          </a:xfrm>
          <a:prstGeom prst="ellipse">
            <a:avLst/>
          </a:prstGeom>
          <a:solidFill>
            <a:srgbClr val="BE5B63"/>
          </a:solidFill>
          <a:ln/>
        </p:spPr>
      </p:sp>
      <p:sp>
        <p:nvSpPr>
          <p:cNvPr id="36" name="Shape 34"/>
          <p:cNvSpPr/>
          <p:nvPr/>
        </p:nvSpPr>
        <p:spPr>
          <a:xfrm>
            <a:off x="5961888" y="3657600"/>
            <a:ext cx="274320" cy="274320"/>
          </a:xfrm>
          <a:prstGeom prst="ellipse">
            <a:avLst/>
          </a:prstGeom>
          <a:solidFill>
            <a:srgbClr val="BE5B63"/>
          </a:solidFill>
          <a:ln/>
        </p:spPr>
      </p:sp>
      <p:sp>
        <p:nvSpPr>
          <p:cNvPr id="37" name="Shape 35"/>
          <p:cNvSpPr/>
          <p:nvPr/>
        </p:nvSpPr>
        <p:spPr>
          <a:xfrm>
            <a:off x="6510528" y="3657600"/>
            <a:ext cx="274320" cy="274320"/>
          </a:xfrm>
          <a:prstGeom prst="ellipse">
            <a:avLst/>
          </a:prstGeom>
          <a:solidFill>
            <a:srgbClr val="BE5B63"/>
          </a:solidFill>
          <a:ln/>
        </p:spPr>
      </p:sp>
      <p:sp>
        <p:nvSpPr>
          <p:cNvPr id="38" name="Shape 36"/>
          <p:cNvSpPr/>
          <p:nvPr/>
        </p:nvSpPr>
        <p:spPr>
          <a:xfrm>
            <a:off x="7059168" y="3657600"/>
            <a:ext cx="274320" cy="274320"/>
          </a:xfrm>
          <a:prstGeom prst="ellipse">
            <a:avLst/>
          </a:prstGeom>
          <a:solidFill>
            <a:srgbClr val="BE5B63"/>
          </a:solidFill>
          <a:ln/>
        </p:spPr>
      </p:sp>
      <p:sp>
        <p:nvSpPr>
          <p:cNvPr id="39" name="Shape 37"/>
          <p:cNvSpPr/>
          <p:nvPr/>
        </p:nvSpPr>
        <p:spPr>
          <a:xfrm>
            <a:off x="7607808" y="3657600"/>
            <a:ext cx="274320" cy="274320"/>
          </a:xfrm>
          <a:prstGeom prst="ellipse">
            <a:avLst/>
          </a:prstGeom>
          <a:solidFill>
            <a:srgbClr val="BE5B63"/>
          </a:solidFill>
          <a:ln/>
        </p:spPr>
      </p:sp>
      <p:sp>
        <p:nvSpPr>
          <p:cNvPr id="40" name="Shape 38"/>
          <p:cNvSpPr/>
          <p:nvPr/>
        </p:nvSpPr>
        <p:spPr>
          <a:xfrm>
            <a:off x="8156448" y="3657600"/>
            <a:ext cx="274320" cy="274320"/>
          </a:xfrm>
          <a:prstGeom prst="ellipse">
            <a:avLst/>
          </a:prstGeom>
          <a:solidFill>
            <a:srgbClr val="BE5B63"/>
          </a:solidFill>
          <a:ln/>
        </p:spPr>
      </p:sp>
      <p:sp>
        <p:nvSpPr>
          <p:cNvPr id="41" name="Shape 39"/>
          <p:cNvSpPr/>
          <p:nvPr/>
        </p:nvSpPr>
        <p:spPr>
          <a:xfrm>
            <a:off x="8705088" y="3657600"/>
            <a:ext cx="274320" cy="274320"/>
          </a:xfrm>
          <a:prstGeom prst="ellipse">
            <a:avLst/>
          </a:prstGeom>
          <a:solidFill>
            <a:srgbClr val="BE5B63"/>
          </a:solidFill>
          <a:ln/>
        </p:spPr>
      </p:sp>
      <p:sp>
        <p:nvSpPr>
          <p:cNvPr id="42" name="Shape 40"/>
          <p:cNvSpPr/>
          <p:nvPr/>
        </p:nvSpPr>
        <p:spPr>
          <a:xfrm>
            <a:off x="9253728" y="3657600"/>
            <a:ext cx="274320" cy="274320"/>
          </a:xfrm>
          <a:prstGeom prst="ellipse">
            <a:avLst/>
          </a:prstGeom>
          <a:solidFill>
            <a:srgbClr val="BE5B63"/>
          </a:solidFill>
          <a:ln/>
        </p:spPr>
      </p:sp>
      <p:sp>
        <p:nvSpPr>
          <p:cNvPr id="43" name="Text 41"/>
          <p:cNvSpPr/>
          <p:nvPr/>
        </p:nvSpPr>
        <p:spPr>
          <a:xfrm>
            <a:off x="822960" y="3072384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三排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2670048" y="3090672"/>
            <a:ext cx="274320" cy="274320"/>
          </a:xfrm>
          <a:prstGeom prst="ellipse">
            <a:avLst/>
          </a:prstGeom>
          <a:solidFill>
            <a:srgbClr val="D39297"/>
          </a:solidFill>
          <a:ln/>
        </p:spPr>
      </p:sp>
      <p:sp>
        <p:nvSpPr>
          <p:cNvPr id="45" name="Shape 43"/>
          <p:cNvSpPr/>
          <p:nvPr/>
        </p:nvSpPr>
        <p:spPr>
          <a:xfrm>
            <a:off x="3218688" y="3090672"/>
            <a:ext cx="274320" cy="274320"/>
          </a:xfrm>
          <a:prstGeom prst="ellipse">
            <a:avLst/>
          </a:prstGeom>
          <a:solidFill>
            <a:srgbClr val="D39297"/>
          </a:solidFill>
          <a:ln/>
        </p:spPr>
      </p:sp>
      <p:sp>
        <p:nvSpPr>
          <p:cNvPr id="46" name="Shape 44"/>
          <p:cNvSpPr/>
          <p:nvPr/>
        </p:nvSpPr>
        <p:spPr>
          <a:xfrm>
            <a:off x="3767328" y="3090672"/>
            <a:ext cx="274320" cy="274320"/>
          </a:xfrm>
          <a:prstGeom prst="ellipse">
            <a:avLst/>
          </a:prstGeom>
          <a:solidFill>
            <a:srgbClr val="D39297"/>
          </a:solidFill>
          <a:ln/>
        </p:spPr>
      </p:sp>
      <p:sp>
        <p:nvSpPr>
          <p:cNvPr id="47" name="Shape 45"/>
          <p:cNvSpPr/>
          <p:nvPr/>
        </p:nvSpPr>
        <p:spPr>
          <a:xfrm>
            <a:off x="4315968" y="3090672"/>
            <a:ext cx="274320" cy="274320"/>
          </a:xfrm>
          <a:prstGeom prst="ellipse">
            <a:avLst/>
          </a:prstGeom>
          <a:solidFill>
            <a:srgbClr val="D39297"/>
          </a:solidFill>
          <a:ln/>
        </p:spPr>
      </p:sp>
      <p:sp>
        <p:nvSpPr>
          <p:cNvPr id="48" name="Shape 46"/>
          <p:cNvSpPr/>
          <p:nvPr/>
        </p:nvSpPr>
        <p:spPr>
          <a:xfrm>
            <a:off x="4864608" y="3090672"/>
            <a:ext cx="274320" cy="274320"/>
          </a:xfrm>
          <a:prstGeom prst="ellipse">
            <a:avLst/>
          </a:prstGeom>
          <a:solidFill>
            <a:srgbClr val="D39297"/>
          </a:solidFill>
          <a:ln/>
        </p:spPr>
      </p:sp>
      <p:sp>
        <p:nvSpPr>
          <p:cNvPr id="49" name="Shape 47"/>
          <p:cNvSpPr/>
          <p:nvPr/>
        </p:nvSpPr>
        <p:spPr>
          <a:xfrm>
            <a:off x="5413248" y="3090672"/>
            <a:ext cx="274320" cy="274320"/>
          </a:xfrm>
          <a:prstGeom prst="ellipse">
            <a:avLst/>
          </a:prstGeom>
          <a:solidFill>
            <a:srgbClr val="D39297"/>
          </a:solidFill>
          <a:ln/>
        </p:spPr>
      </p:sp>
      <p:sp>
        <p:nvSpPr>
          <p:cNvPr id="50" name="Shape 48"/>
          <p:cNvSpPr/>
          <p:nvPr/>
        </p:nvSpPr>
        <p:spPr>
          <a:xfrm>
            <a:off x="5961888" y="3090672"/>
            <a:ext cx="274320" cy="274320"/>
          </a:xfrm>
          <a:prstGeom prst="ellipse">
            <a:avLst/>
          </a:prstGeom>
          <a:solidFill>
            <a:srgbClr val="D39297"/>
          </a:solidFill>
          <a:ln/>
        </p:spPr>
      </p:sp>
      <p:sp>
        <p:nvSpPr>
          <p:cNvPr id="51" name="Shape 49"/>
          <p:cNvSpPr/>
          <p:nvPr/>
        </p:nvSpPr>
        <p:spPr>
          <a:xfrm>
            <a:off x="6510528" y="3090672"/>
            <a:ext cx="274320" cy="274320"/>
          </a:xfrm>
          <a:prstGeom prst="ellipse">
            <a:avLst/>
          </a:prstGeom>
          <a:solidFill>
            <a:srgbClr val="D39297"/>
          </a:solidFill>
          <a:ln/>
        </p:spPr>
      </p:sp>
      <p:sp>
        <p:nvSpPr>
          <p:cNvPr id="52" name="Shape 50"/>
          <p:cNvSpPr/>
          <p:nvPr/>
        </p:nvSpPr>
        <p:spPr>
          <a:xfrm>
            <a:off x="7059168" y="3090672"/>
            <a:ext cx="274320" cy="274320"/>
          </a:xfrm>
          <a:prstGeom prst="ellipse">
            <a:avLst/>
          </a:prstGeom>
          <a:solidFill>
            <a:srgbClr val="D39297"/>
          </a:solidFill>
          <a:ln/>
        </p:spPr>
      </p:sp>
      <p:sp>
        <p:nvSpPr>
          <p:cNvPr id="53" name="Shape 51"/>
          <p:cNvSpPr/>
          <p:nvPr/>
        </p:nvSpPr>
        <p:spPr>
          <a:xfrm>
            <a:off x="7607808" y="3090672"/>
            <a:ext cx="274320" cy="274320"/>
          </a:xfrm>
          <a:prstGeom prst="ellipse">
            <a:avLst/>
          </a:prstGeom>
          <a:solidFill>
            <a:srgbClr val="D39297"/>
          </a:solidFill>
          <a:ln/>
        </p:spPr>
      </p:sp>
      <p:sp>
        <p:nvSpPr>
          <p:cNvPr id="54" name="Shape 52"/>
          <p:cNvSpPr/>
          <p:nvPr/>
        </p:nvSpPr>
        <p:spPr>
          <a:xfrm>
            <a:off x="8156448" y="3090672"/>
            <a:ext cx="274320" cy="274320"/>
          </a:xfrm>
          <a:prstGeom prst="ellipse">
            <a:avLst/>
          </a:prstGeom>
          <a:solidFill>
            <a:srgbClr val="D39297"/>
          </a:solidFill>
          <a:ln/>
        </p:spPr>
      </p:sp>
      <p:sp>
        <p:nvSpPr>
          <p:cNvPr id="55" name="Shape 53"/>
          <p:cNvSpPr/>
          <p:nvPr/>
        </p:nvSpPr>
        <p:spPr>
          <a:xfrm>
            <a:off x="8705088" y="3090672"/>
            <a:ext cx="274320" cy="274320"/>
          </a:xfrm>
          <a:prstGeom prst="ellipse">
            <a:avLst/>
          </a:prstGeom>
          <a:solidFill>
            <a:srgbClr val="D39297"/>
          </a:solidFill>
          <a:ln/>
        </p:spPr>
      </p:sp>
      <p:sp>
        <p:nvSpPr>
          <p:cNvPr id="56" name="Shape 54"/>
          <p:cNvSpPr/>
          <p:nvPr/>
        </p:nvSpPr>
        <p:spPr>
          <a:xfrm>
            <a:off x="9253728" y="3090672"/>
            <a:ext cx="274320" cy="274320"/>
          </a:xfrm>
          <a:prstGeom prst="ellipse">
            <a:avLst/>
          </a:prstGeom>
          <a:solidFill>
            <a:srgbClr val="D39297"/>
          </a:solidFill>
          <a:ln/>
        </p:spPr>
      </p:sp>
      <p:sp>
        <p:nvSpPr>
          <p:cNvPr id="57" name="Text 55"/>
          <p:cNvSpPr/>
          <p:nvPr/>
        </p:nvSpPr>
        <p:spPr>
          <a:xfrm>
            <a:off x="822960" y="2505456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四排（后）</a:t>
            </a:r>
            <a:endParaRPr lang="en-US" sz="1250" dirty="0"/>
          </a:p>
        </p:txBody>
      </p:sp>
      <p:sp>
        <p:nvSpPr>
          <p:cNvPr id="58" name="Shape 56"/>
          <p:cNvSpPr/>
          <p:nvPr/>
        </p:nvSpPr>
        <p:spPr>
          <a:xfrm>
            <a:off x="2670048" y="2523744"/>
            <a:ext cx="274320" cy="274320"/>
          </a:xfrm>
          <a:prstGeom prst="ellipse">
            <a:avLst/>
          </a:prstGeom>
          <a:solidFill>
            <a:srgbClr val="E5C4C6"/>
          </a:solidFill>
          <a:ln/>
        </p:spPr>
      </p:sp>
      <p:sp>
        <p:nvSpPr>
          <p:cNvPr id="59" name="Shape 57"/>
          <p:cNvSpPr/>
          <p:nvPr/>
        </p:nvSpPr>
        <p:spPr>
          <a:xfrm>
            <a:off x="3218688" y="2523744"/>
            <a:ext cx="274320" cy="274320"/>
          </a:xfrm>
          <a:prstGeom prst="ellipse">
            <a:avLst/>
          </a:prstGeom>
          <a:solidFill>
            <a:srgbClr val="E5C4C6"/>
          </a:solidFill>
          <a:ln/>
        </p:spPr>
      </p:sp>
      <p:sp>
        <p:nvSpPr>
          <p:cNvPr id="60" name="Shape 58"/>
          <p:cNvSpPr/>
          <p:nvPr/>
        </p:nvSpPr>
        <p:spPr>
          <a:xfrm>
            <a:off x="3767328" y="2523744"/>
            <a:ext cx="274320" cy="274320"/>
          </a:xfrm>
          <a:prstGeom prst="ellipse">
            <a:avLst/>
          </a:prstGeom>
          <a:solidFill>
            <a:srgbClr val="E5C4C6"/>
          </a:solidFill>
          <a:ln/>
        </p:spPr>
      </p:sp>
      <p:sp>
        <p:nvSpPr>
          <p:cNvPr id="61" name="Shape 59"/>
          <p:cNvSpPr/>
          <p:nvPr/>
        </p:nvSpPr>
        <p:spPr>
          <a:xfrm>
            <a:off x="4315968" y="2523744"/>
            <a:ext cx="274320" cy="274320"/>
          </a:xfrm>
          <a:prstGeom prst="ellipse">
            <a:avLst/>
          </a:prstGeom>
          <a:solidFill>
            <a:srgbClr val="E5C4C6"/>
          </a:solidFill>
          <a:ln/>
        </p:spPr>
      </p:sp>
      <p:sp>
        <p:nvSpPr>
          <p:cNvPr id="62" name="Shape 60"/>
          <p:cNvSpPr/>
          <p:nvPr/>
        </p:nvSpPr>
        <p:spPr>
          <a:xfrm>
            <a:off x="4864608" y="2523744"/>
            <a:ext cx="274320" cy="274320"/>
          </a:xfrm>
          <a:prstGeom prst="ellipse">
            <a:avLst/>
          </a:prstGeom>
          <a:solidFill>
            <a:srgbClr val="E5C4C6"/>
          </a:solidFill>
          <a:ln/>
        </p:spPr>
      </p:sp>
      <p:sp>
        <p:nvSpPr>
          <p:cNvPr id="63" name="Shape 61"/>
          <p:cNvSpPr/>
          <p:nvPr/>
        </p:nvSpPr>
        <p:spPr>
          <a:xfrm>
            <a:off x="5413248" y="2523744"/>
            <a:ext cx="274320" cy="274320"/>
          </a:xfrm>
          <a:prstGeom prst="ellipse">
            <a:avLst/>
          </a:prstGeom>
          <a:solidFill>
            <a:srgbClr val="E5C4C6"/>
          </a:solidFill>
          <a:ln/>
        </p:spPr>
      </p:sp>
      <p:sp>
        <p:nvSpPr>
          <p:cNvPr id="64" name="Shape 62"/>
          <p:cNvSpPr/>
          <p:nvPr/>
        </p:nvSpPr>
        <p:spPr>
          <a:xfrm>
            <a:off x="5961888" y="2523744"/>
            <a:ext cx="274320" cy="274320"/>
          </a:xfrm>
          <a:prstGeom prst="ellipse">
            <a:avLst/>
          </a:prstGeom>
          <a:solidFill>
            <a:srgbClr val="E5C4C6"/>
          </a:solidFill>
          <a:ln/>
        </p:spPr>
      </p:sp>
      <p:sp>
        <p:nvSpPr>
          <p:cNvPr id="65" name="Shape 63"/>
          <p:cNvSpPr/>
          <p:nvPr/>
        </p:nvSpPr>
        <p:spPr>
          <a:xfrm>
            <a:off x="6510528" y="2523744"/>
            <a:ext cx="274320" cy="274320"/>
          </a:xfrm>
          <a:prstGeom prst="ellipse">
            <a:avLst/>
          </a:prstGeom>
          <a:solidFill>
            <a:srgbClr val="E5C4C6"/>
          </a:solidFill>
          <a:ln/>
        </p:spPr>
      </p:sp>
      <p:sp>
        <p:nvSpPr>
          <p:cNvPr id="66" name="Shape 64"/>
          <p:cNvSpPr/>
          <p:nvPr/>
        </p:nvSpPr>
        <p:spPr>
          <a:xfrm>
            <a:off x="7059168" y="2523744"/>
            <a:ext cx="274320" cy="274320"/>
          </a:xfrm>
          <a:prstGeom prst="ellipse">
            <a:avLst/>
          </a:prstGeom>
          <a:solidFill>
            <a:srgbClr val="E5C4C6"/>
          </a:solidFill>
          <a:ln/>
        </p:spPr>
      </p:sp>
      <p:sp>
        <p:nvSpPr>
          <p:cNvPr id="67" name="Shape 65"/>
          <p:cNvSpPr/>
          <p:nvPr/>
        </p:nvSpPr>
        <p:spPr>
          <a:xfrm>
            <a:off x="7607808" y="2523744"/>
            <a:ext cx="274320" cy="274320"/>
          </a:xfrm>
          <a:prstGeom prst="ellipse">
            <a:avLst/>
          </a:prstGeom>
          <a:solidFill>
            <a:srgbClr val="E5C4C6"/>
          </a:solidFill>
          <a:ln/>
        </p:spPr>
      </p:sp>
      <p:sp>
        <p:nvSpPr>
          <p:cNvPr id="68" name="Shape 66"/>
          <p:cNvSpPr/>
          <p:nvPr/>
        </p:nvSpPr>
        <p:spPr>
          <a:xfrm>
            <a:off x="8156448" y="2523744"/>
            <a:ext cx="274320" cy="274320"/>
          </a:xfrm>
          <a:prstGeom prst="ellipse">
            <a:avLst/>
          </a:prstGeom>
          <a:solidFill>
            <a:srgbClr val="E5C4C6"/>
          </a:solidFill>
          <a:ln/>
        </p:spPr>
      </p:sp>
      <p:sp>
        <p:nvSpPr>
          <p:cNvPr id="69" name="Shape 67"/>
          <p:cNvSpPr/>
          <p:nvPr/>
        </p:nvSpPr>
        <p:spPr>
          <a:xfrm>
            <a:off x="8705088" y="2523744"/>
            <a:ext cx="274320" cy="274320"/>
          </a:xfrm>
          <a:prstGeom prst="ellipse">
            <a:avLst/>
          </a:prstGeom>
          <a:solidFill>
            <a:srgbClr val="E5C4C6"/>
          </a:solidFill>
          <a:ln/>
        </p:spPr>
      </p:sp>
      <p:sp>
        <p:nvSpPr>
          <p:cNvPr id="70" name="Shape 68"/>
          <p:cNvSpPr/>
          <p:nvPr/>
        </p:nvSpPr>
        <p:spPr>
          <a:xfrm>
            <a:off x="9253728" y="2523744"/>
            <a:ext cx="274320" cy="274320"/>
          </a:xfrm>
          <a:prstGeom prst="ellipse">
            <a:avLst/>
          </a:prstGeom>
          <a:solidFill>
            <a:srgbClr val="E5C4C6"/>
          </a:solidFill>
          <a:ln/>
        </p:spPr>
      </p:sp>
      <p:sp>
        <p:nvSpPr>
          <p:cNvPr id="71" name="Shape 69"/>
          <p:cNvSpPr/>
          <p:nvPr/>
        </p:nvSpPr>
        <p:spPr>
          <a:xfrm>
            <a:off x="1005840" y="4617720"/>
            <a:ext cx="1371600" cy="512064"/>
          </a:xfrm>
          <a:prstGeom prst="roundRect">
            <a:avLst>
              <a:gd name="adj" fmla="val 8929"/>
            </a:avLst>
          </a:prstGeom>
          <a:solidFill>
            <a:srgbClr val="A61B29"/>
          </a:solidFill>
          <a:ln/>
        </p:spPr>
      </p:sp>
      <p:sp>
        <p:nvSpPr>
          <p:cNvPr id="72" name="Text 70"/>
          <p:cNvSpPr/>
          <p:nvPr/>
        </p:nvSpPr>
        <p:spPr>
          <a:xfrm>
            <a:off x="1005840" y="4617720"/>
            <a:ext cx="1371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女领①</a:t>
            </a:r>
            <a:endParaRPr lang="en-US" sz="1250" dirty="0"/>
          </a:p>
        </p:txBody>
      </p:sp>
      <p:sp>
        <p:nvSpPr>
          <p:cNvPr id="73" name="Shape 71"/>
          <p:cNvSpPr/>
          <p:nvPr/>
        </p:nvSpPr>
        <p:spPr>
          <a:xfrm>
            <a:off x="2560320" y="4617720"/>
            <a:ext cx="1371600" cy="512064"/>
          </a:xfrm>
          <a:prstGeom prst="roundRect">
            <a:avLst>
              <a:gd name="adj" fmla="val 8929"/>
            </a:avLst>
          </a:prstGeom>
          <a:solidFill>
            <a:srgbClr val="A61B29"/>
          </a:solidFill>
          <a:ln/>
        </p:spPr>
      </p:sp>
      <p:sp>
        <p:nvSpPr>
          <p:cNvPr id="74" name="Text 72"/>
          <p:cNvSpPr/>
          <p:nvPr/>
        </p:nvSpPr>
        <p:spPr>
          <a:xfrm>
            <a:off x="2560320" y="4617720"/>
            <a:ext cx="1371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男领①</a:t>
            </a:r>
            <a:endParaRPr lang="en-US" sz="1250" dirty="0"/>
          </a:p>
        </p:txBody>
      </p:sp>
      <p:sp>
        <p:nvSpPr>
          <p:cNvPr id="75" name="Shape 73"/>
          <p:cNvSpPr/>
          <p:nvPr/>
        </p:nvSpPr>
        <p:spPr>
          <a:xfrm>
            <a:off x="8412480" y="4617720"/>
            <a:ext cx="1371600" cy="512064"/>
          </a:xfrm>
          <a:prstGeom prst="roundRect">
            <a:avLst>
              <a:gd name="adj" fmla="val 8929"/>
            </a:avLst>
          </a:prstGeom>
          <a:solidFill>
            <a:srgbClr val="7C1420"/>
          </a:solidFill>
          <a:ln/>
        </p:spPr>
      </p:sp>
      <p:sp>
        <p:nvSpPr>
          <p:cNvPr id="76" name="Text 74"/>
          <p:cNvSpPr/>
          <p:nvPr/>
        </p:nvSpPr>
        <p:spPr>
          <a:xfrm>
            <a:off x="8412480" y="4617720"/>
            <a:ext cx="1371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男领唱</a:t>
            </a:r>
            <a:endParaRPr lang="en-US" sz="1250" dirty="0"/>
          </a:p>
        </p:txBody>
      </p:sp>
      <p:sp>
        <p:nvSpPr>
          <p:cNvPr id="77" name="Shape 75"/>
          <p:cNvSpPr/>
          <p:nvPr/>
        </p:nvSpPr>
        <p:spPr>
          <a:xfrm>
            <a:off x="9966960" y="4617720"/>
            <a:ext cx="1371600" cy="512064"/>
          </a:xfrm>
          <a:prstGeom prst="roundRect">
            <a:avLst>
              <a:gd name="adj" fmla="val 8929"/>
            </a:avLst>
          </a:prstGeom>
          <a:solidFill>
            <a:srgbClr val="7C1420"/>
          </a:solidFill>
          <a:ln/>
        </p:spPr>
      </p:sp>
      <p:sp>
        <p:nvSpPr>
          <p:cNvPr id="78" name="Text 76"/>
          <p:cNvSpPr/>
          <p:nvPr/>
        </p:nvSpPr>
        <p:spPr>
          <a:xfrm>
            <a:off x="9966960" y="4617720"/>
            <a:ext cx="1371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女领唱</a:t>
            </a:r>
            <a:endParaRPr lang="en-US" sz="1250" dirty="0"/>
          </a:p>
        </p:txBody>
      </p:sp>
      <p:sp>
        <p:nvSpPr>
          <p:cNvPr id="79" name="Shape 77"/>
          <p:cNvSpPr/>
          <p:nvPr/>
        </p:nvSpPr>
        <p:spPr>
          <a:xfrm>
            <a:off x="1481328" y="4956048"/>
            <a:ext cx="420624" cy="42062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80" name="Text 78"/>
          <p:cNvSpPr/>
          <p:nvPr/>
        </p:nvSpPr>
        <p:spPr>
          <a:xfrm>
            <a:off x="1481328" y="495604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麦1</a:t>
            </a:r>
            <a:endParaRPr lang="en-US" sz="1200" dirty="0"/>
          </a:p>
        </p:txBody>
      </p:sp>
      <p:sp>
        <p:nvSpPr>
          <p:cNvPr id="81" name="Shape 79"/>
          <p:cNvSpPr/>
          <p:nvPr/>
        </p:nvSpPr>
        <p:spPr>
          <a:xfrm>
            <a:off x="3035808" y="4956048"/>
            <a:ext cx="420624" cy="42062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82" name="Text 80"/>
          <p:cNvSpPr/>
          <p:nvPr/>
        </p:nvSpPr>
        <p:spPr>
          <a:xfrm>
            <a:off x="3035808" y="495604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麦2</a:t>
            </a:r>
            <a:endParaRPr lang="en-US" sz="1200" dirty="0"/>
          </a:p>
        </p:txBody>
      </p:sp>
      <p:sp>
        <p:nvSpPr>
          <p:cNvPr id="83" name="Shape 81"/>
          <p:cNvSpPr/>
          <p:nvPr/>
        </p:nvSpPr>
        <p:spPr>
          <a:xfrm>
            <a:off x="8887968" y="4956048"/>
            <a:ext cx="420624" cy="42062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84" name="Text 82"/>
          <p:cNvSpPr/>
          <p:nvPr/>
        </p:nvSpPr>
        <p:spPr>
          <a:xfrm>
            <a:off x="8887968" y="495604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麦3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10442448" y="4956048"/>
            <a:ext cx="420624" cy="42062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86" name="Text 84"/>
          <p:cNvSpPr/>
          <p:nvPr/>
        </p:nvSpPr>
        <p:spPr>
          <a:xfrm>
            <a:off x="10442448" y="495604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麦4</a:t>
            </a:r>
            <a:endParaRPr lang="en-US" sz="1200" dirty="0"/>
          </a:p>
        </p:txBody>
      </p:sp>
      <p:sp>
        <p:nvSpPr>
          <p:cNvPr id="87" name="Text 85"/>
          <p:cNvSpPr/>
          <p:nvPr/>
        </p:nvSpPr>
        <p:spPr>
          <a:xfrm>
            <a:off x="457200" y="580644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以 52 人为例（4排×13，按实际人数增减）；排面呈微弧形，前排强、后排高；若设指挥，站左前角侧身面对合唱队。</a:t>
            </a:r>
            <a:endParaRPr lang="en-US" sz="1250" dirty="0"/>
          </a:p>
        </p:txBody>
      </p:sp>
      <p:sp>
        <p:nvSpPr>
          <p:cNvPr id="89" name="Text 86"/>
          <p:cNvSpPr/>
          <p:nvPr/>
        </p:nvSpPr>
        <p:spPr>
          <a:xfrm>
            <a:off x="10881360" y="6419088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09 / 14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246888" cy="246888"/>
          </a:xfrm>
          <a:prstGeom prst="star5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支话筒 · 预录音轨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745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话筒分配与对口型录音</a:t>
            </a:r>
            <a:endParaRPr lang="en-US" sz="3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55778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920240"/>
                <a:gridCol w="22860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麦位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1B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使用人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1B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备注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1B2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A61B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麦1 左前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女领诵①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C8C8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朗诵主麦；歌曲段收回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A61B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麦2 左中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男领诵①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C8C8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朗诵主麦；歌曲段收回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A61B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麦3 右前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男领唱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C8C8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主歌一独唱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A61B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麦4 右中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女领唱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C8C8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主歌二对唱、副歌领唱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977640"/>
            <a:ext cx="5577840" cy="1051560"/>
          </a:xfrm>
          <a:prstGeom prst="rect">
            <a:avLst/>
          </a:prstGeom>
          <a:solidFill>
            <a:srgbClr val="F8F0F0"/>
          </a:solidFill>
          <a:ln/>
        </p:spPr>
      </p:sp>
      <p:sp>
        <p:nvSpPr>
          <p:cNvPr id="7" name="Text 4"/>
          <p:cNvSpPr/>
          <p:nvPr/>
        </p:nvSpPr>
        <p:spPr>
          <a:xfrm>
            <a:off x="658368" y="3977640"/>
            <a:ext cx="517550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群诵与合唱不依赖话筒：现场扩声以预录音轨为主，4 支真麦只保领诵领唱。麦1/麦2 在歌曲段收走或让给领唱。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400800" y="1691640"/>
            <a:ext cx="5330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61B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对口型录音 · 五步流程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00800" y="2148840"/>
            <a:ext cx="384048" cy="38404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0" y="21488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931152" y="2121408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定稿 · 标注点位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931152" y="242316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把音效、齐诵、起唱的准确时间点写进录音脚本。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400800" y="2990088"/>
            <a:ext cx="384048" cy="38404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0" y="29900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931152" y="2962656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进场实录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931152" y="3264408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在演出场地用同一套功放话筒录整条：朗诵＋齐诵＋合唱＋伴奏。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400800" y="3831336"/>
            <a:ext cx="384048" cy="38404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0" y="38313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931152" y="3803904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混音单轨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6931152" y="4105656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总长 5′15″，首尾各留 2″ 静音；U盘＋手机双备份。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400800" y="4672584"/>
            <a:ext cx="384048" cy="38404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2" name="Text 19"/>
          <p:cNvSpPr/>
          <p:nvPr/>
        </p:nvSpPr>
        <p:spPr>
          <a:xfrm>
            <a:off x="6400800" y="46725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931152" y="4645152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对口型排练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6931152" y="4946904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领诵逐句对，群诵小口型，动作卡节拍。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400800" y="5513832"/>
            <a:ext cx="384048" cy="38404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6" name="Text 23"/>
          <p:cNvSpPr/>
          <p:nvPr/>
        </p:nvSpPr>
        <p:spPr>
          <a:xfrm>
            <a:off x="6400800" y="55138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6931152" y="5486400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现场放带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6931152" y="5788152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报幕后起播；领诵另留一支真麦应急。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10881360" y="6419088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/ 14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246888" cy="246888"/>
          </a:xfrm>
          <a:prstGeom prst="star5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雪山与红旗的意象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745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舞美：服装 · 造型 · LED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557016" cy="3931920"/>
          </a:xfrm>
          <a:prstGeom prst="roundRect">
            <a:avLst>
              <a:gd name="adj" fmla="val 1542"/>
            </a:avLst>
          </a:prstGeom>
          <a:solidFill>
            <a:srgbClr val="FFFFFF"/>
          </a:solidFill>
          <a:ln w="12700">
            <a:solidFill>
              <a:srgbClr val="E5D8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1938528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61B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服装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13232" y="2596896"/>
            <a:ext cx="82296" cy="822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932688" y="2514600"/>
            <a:ext cx="2880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全体深色上装＋红围巾（雪山·红旗意象）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13232" y="3346704"/>
            <a:ext cx="82296" cy="822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/>
          <p:nvPr/>
        </p:nvSpPr>
        <p:spPr>
          <a:xfrm>
            <a:off x="932688" y="3264408"/>
            <a:ext cx="2880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领诵 4 人戴白手套，手势清晰可见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13232" y="4096512"/>
            <a:ext cx="82296" cy="822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2" name="Text 10"/>
          <p:cNvSpPr/>
          <p:nvPr/>
        </p:nvSpPr>
        <p:spPr>
          <a:xfrm>
            <a:off x="932688" y="4014216"/>
            <a:ext cx="2880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领唱同款另佩徽章或绶带区分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13232" y="4846320"/>
            <a:ext cx="82296" cy="822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4" name="Text 12"/>
          <p:cNvSpPr/>
          <p:nvPr/>
        </p:nvSpPr>
        <p:spPr>
          <a:xfrm>
            <a:off x="932688" y="4764024"/>
            <a:ext cx="2880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鞋深色统一，忌白鞋抢镜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315968" y="1737360"/>
            <a:ext cx="3557016" cy="3931920"/>
          </a:xfrm>
          <a:prstGeom prst="roundRect">
            <a:avLst>
              <a:gd name="adj" fmla="val 1542"/>
            </a:avLst>
          </a:prstGeom>
          <a:solidFill>
            <a:srgbClr val="FFFFFF"/>
          </a:solidFill>
          <a:ln w="12700">
            <a:solidFill>
              <a:srgbClr val="E5D8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53712" y="1938528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61B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造型与灯光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0" y="2596896"/>
            <a:ext cx="82296" cy="822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8" name="Text 16"/>
          <p:cNvSpPr/>
          <p:nvPr/>
        </p:nvSpPr>
        <p:spPr>
          <a:xfrm>
            <a:off x="4791456" y="2514600"/>
            <a:ext cx="2880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朗诵段合唱肃立，“丰碑”句齐抬头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0" y="3346704"/>
            <a:ext cx="82296" cy="822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0" name="Text 18"/>
          <p:cNvSpPr/>
          <p:nvPr/>
        </p:nvSpPr>
        <p:spPr>
          <a:xfrm>
            <a:off x="4791456" y="3264408"/>
            <a:ext cx="2880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尾句收拍全体注目礼定格 5″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0" y="4096512"/>
            <a:ext cx="82296" cy="822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2" name="Text 20"/>
          <p:cNvSpPr/>
          <p:nvPr/>
        </p:nvSpPr>
        <p:spPr>
          <a:xfrm>
            <a:off x="4791456" y="4014216"/>
            <a:ext cx="2880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暗场起光→副歌顶光全亮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572000" y="4846320"/>
            <a:ext cx="82296" cy="822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4" name="Text 22"/>
          <p:cNvSpPr/>
          <p:nvPr/>
        </p:nvSpPr>
        <p:spPr>
          <a:xfrm>
            <a:off x="4791456" y="4764024"/>
            <a:ext cx="2880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若无灯光条件，用 LED 明暗替代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174736" y="1737360"/>
            <a:ext cx="3557016" cy="3931920"/>
          </a:xfrm>
          <a:prstGeom prst="roundRect">
            <a:avLst>
              <a:gd name="adj" fmla="val 1542"/>
            </a:avLst>
          </a:prstGeom>
          <a:solidFill>
            <a:srgbClr val="FFFFFF"/>
          </a:solidFill>
          <a:ln w="12700">
            <a:solidFill>
              <a:srgbClr val="E5D8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0" y="1938528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61B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LED 与音效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430768" y="2596896"/>
            <a:ext cx="82296" cy="822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8" name="Text 26"/>
          <p:cNvSpPr/>
          <p:nvPr/>
        </p:nvSpPr>
        <p:spPr>
          <a:xfrm>
            <a:off x="8650224" y="2514600"/>
            <a:ext cx="2880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背景五段：风雪山林→雪山日出→红旗长城→丰碑剪影→金色点题大字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430768" y="3346704"/>
            <a:ext cx="82296" cy="822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0" name="Text 28"/>
          <p:cNvSpPr/>
          <p:nvPr/>
        </p:nvSpPr>
        <p:spPr>
          <a:xfrm>
            <a:off x="8650224" y="3264408"/>
            <a:ext cx="2880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音效：风雪声 15″ 渐入＋战鼓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8430768" y="4096512"/>
            <a:ext cx="82296" cy="822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2" name="Text 30"/>
          <p:cNvSpPr/>
          <p:nvPr/>
        </p:nvSpPr>
        <p:spPr>
          <a:xfrm>
            <a:off x="8650224" y="4014216"/>
            <a:ext cx="2880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背景素材见第 12 页资源表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8430768" y="4846320"/>
            <a:ext cx="82296" cy="822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4" name="Text 32"/>
          <p:cNvSpPr/>
          <p:nvPr/>
        </p:nvSpPr>
        <p:spPr>
          <a:xfrm>
            <a:off x="8650224" y="4764024"/>
            <a:ext cx="2880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免费音效：爱给网 aigei.com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457200" y="5897880"/>
            <a:ext cx="11274552" cy="0"/>
          </a:xfrm>
          <a:prstGeom prst="line">
            <a:avLst/>
          </a:prstGeom>
          <a:noFill/>
          <a:ln w="9525">
            <a:solidFill>
              <a:srgbClr val="E5D8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6016752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LED 播放与音效由 1 名同学跟预录音轨一键触发：同一台电脑、同一份音轨，避免二次对拍。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10881360" y="6419088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 / 14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246888" cy="246888"/>
          </a:xfrm>
          <a:prstGeom prst="star5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齐越节 · 央视 · B站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745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学习资源与模仿对象</a:t>
            </a:r>
            <a:endParaRPr lang="en-US" sz="3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27632"/>
          <a:ext cx="11274552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743200"/>
                <a:gridCol w="533095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作品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1B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学什么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1B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在哪看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1B2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2021 届齐越节《丰碑》朗诵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C8C8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朗诵处理的直接范本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C8C8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B站搜索：丰碑 齐越节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情景诵演《丰碑》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C8C8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舞台调度与情景化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C8C8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bilibili.com/video/BV1Dv411H7r1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齐越节《我的墓碑》（湘江战役）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C8C8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叙事感与停顿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C8C8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bilibili.com/video/BV1pe4y1S7gY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齐越奖《吹号者》（第21届）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C8C8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气势与声音造型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C8C8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bilibili.com/video/BV13V411m7xr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历届齐越节获奖作品名单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C8C8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挑选更多自备稿件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C8C8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zhuanlan.zhihu.com/p/386497564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国家大剧院《七律·长征》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C8C8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专业级技巧对标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C8C8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tv.cctv.com 搜索：七律·长征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长征组歌·1976 舞台艺术片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C8C8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朗诵×合唱融合教科书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C8C8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bilibili.com/video/BV1Ex41147be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廖昌永《过雪山草地》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C8C8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间奏齐诵的出处范本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C8C8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bilibili.com/video/BV1Xf4y1i7RR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长征朗诵背景视频素材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C8C8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LED 大屏背景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C8C8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bilibili.com/video/BV15Q4y137ww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总书记长征讲话全文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C8C8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结尾点题出典·报幕词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C8C8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新华社受权发布：纪念红军长征胜利80周年大会上的讲话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598932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用法：先全组同看《我的墓碑》学停顿，再逐句仿齐越节《丰碑》；排练时投屏跟读。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0881360" y="6419088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 / 14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12064"/>
            <a:ext cx="246888" cy="246888"/>
          </a:xfrm>
          <a:prstGeom prst="star5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四周冲刺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745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排练计划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 周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12140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定稿 · 模仿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2651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800"/>
              </a:spcAft>
              <a:buSzPct val="100000"/>
              <a:buChar char="▸"/>
            </a:pPr>
            <a:r>
              <a:rPr lang="en-US" sz="125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定 4 领诵＋2 领唱人选</a:t>
            </a:r>
            <a:endParaRPr lang="en-US" sz="1250" dirty="0"/>
          </a:p>
          <a:p>
            <a:pPr marL="127000" indent="-127000">
              <a:spcAft>
                <a:spcPts val="800"/>
              </a:spcAft>
              <a:buSzPct val="100000"/>
              <a:buChar char="▸"/>
            </a:pPr>
            <a:r>
              <a:rPr lang="en-US" sz="125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逐句仿齐越节《丰碑》</a:t>
            </a:r>
            <a:endParaRPr lang="en-US" sz="1250" dirty="0"/>
          </a:p>
          <a:p>
            <a:pPr marL="127000" indent="-127000">
              <a:spcAft>
                <a:spcPts val="800"/>
              </a:spcAft>
              <a:buSzPct val="100000"/>
              <a:buChar char="▸"/>
            </a:pPr>
            <a:r>
              <a:rPr lang="en-US" sz="125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合唱分声部学谱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09544" y="1828800"/>
            <a:ext cx="0" cy="2834640"/>
          </a:xfrm>
          <a:prstGeom prst="line">
            <a:avLst/>
          </a:prstGeom>
          <a:noFill/>
          <a:ln w="9525">
            <a:solidFill>
              <a:srgbClr val="E5D8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19272" y="1783080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2 周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19272" y="212140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分线合排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319272" y="2606040"/>
            <a:ext cx="2651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800"/>
              </a:spcAft>
              <a:buSzPct val="100000"/>
              <a:buChar char="▸"/>
            </a:pPr>
            <a:r>
              <a:rPr lang="en-US" sz="125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朗诵线掐表 ≤1′45″</a:t>
            </a:r>
            <a:endParaRPr lang="en-US" sz="1250" dirty="0"/>
          </a:p>
          <a:p>
            <a:pPr marL="127000" indent="-127000">
              <a:spcAft>
                <a:spcPts val="800"/>
              </a:spcAft>
              <a:buSzPct val="100000"/>
              <a:buChar char="▸"/>
            </a:pPr>
            <a:r>
              <a:rPr lang="en-US" sz="125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合唱线连贯成形</a:t>
            </a:r>
            <a:endParaRPr lang="en-US" sz="1250" dirty="0"/>
          </a:p>
          <a:p>
            <a:pPr marL="127000" indent="-127000">
              <a:spcAft>
                <a:spcPts val="800"/>
              </a:spcAft>
              <a:buSzPct val="100000"/>
              <a:buChar char="▸"/>
            </a:pPr>
            <a:r>
              <a:rPr lang="en-US" sz="125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按队形图落位走位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71616" y="1828800"/>
            <a:ext cx="0" cy="2834640"/>
          </a:xfrm>
          <a:prstGeom prst="line">
            <a:avLst/>
          </a:prstGeom>
          <a:noFill/>
          <a:ln w="9525">
            <a:solidFill>
              <a:srgbClr val="E5D8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81344" y="1783080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3 周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81344" y="212140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合成 · 录音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181344" y="2606040"/>
            <a:ext cx="2651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800"/>
              </a:spcAft>
              <a:buSzPct val="100000"/>
              <a:buChar char="▸"/>
            </a:pPr>
            <a:r>
              <a:rPr lang="en-US" sz="125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朗诵×合唱拼接合乐</a:t>
            </a:r>
            <a:endParaRPr lang="en-US" sz="1250" dirty="0"/>
          </a:p>
          <a:p>
            <a:pPr marL="127000" indent="-127000">
              <a:spcAft>
                <a:spcPts val="800"/>
              </a:spcAft>
              <a:buSzPct val="100000"/>
              <a:buChar char="▸"/>
            </a:pPr>
            <a:r>
              <a:rPr lang="en-US" sz="125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进场录对口型音轨</a:t>
            </a:r>
            <a:endParaRPr lang="en-US" sz="1250" dirty="0"/>
          </a:p>
          <a:p>
            <a:pPr marL="127000" indent="-127000">
              <a:spcAft>
                <a:spcPts val="800"/>
              </a:spcAft>
              <a:buSzPct val="100000"/>
              <a:buChar char="▸"/>
            </a:pPr>
            <a:r>
              <a:rPr lang="en-US" sz="125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全程 5′15″±10″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933688" y="1828800"/>
            <a:ext cx="0" cy="2834640"/>
          </a:xfrm>
          <a:prstGeom prst="line">
            <a:avLst/>
          </a:prstGeom>
          <a:noFill/>
          <a:ln w="9525">
            <a:solidFill>
              <a:srgbClr val="E5D8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43416" y="1783080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4 周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043416" y="212140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带麦彩排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043416" y="2606040"/>
            <a:ext cx="2651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800"/>
              </a:spcAft>
              <a:buSzPct val="100000"/>
              <a:buChar char="▸"/>
            </a:pPr>
            <a:r>
              <a:rPr lang="en-US" sz="125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带麦全流程彩排×3</a:t>
            </a:r>
            <a:endParaRPr lang="en-US" sz="1250" dirty="0"/>
          </a:p>
          <a:p>
            <a:pPr marL="127000" indent="-127000">
              <a:spcAft>
                <a:spcPts val="800"/>
              </a:spcAft>
              <a:buSzPct val="100000"/>
              <a:buChar char="▸"/>
            </a:pPr>
            <a:r>
              <a:rPr lang="en-US" sz="125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摄像回看逐帧修</a:t>
            </a:r>
            <a:endParaRPr lang="en-US" sz="1250" dirty="0"/>
          </a:p>
          <a:p>
            <a:pPr marL="127000" indent="-127000">
              <a:spcAft>
                <a:spcPts val="800"/>
              </a:spcAft>
              <a:buSzPct val="100000"/>
              <a:buChar char="▸"/>
            </a:pPr>
            <a:r>
              <a:rPr lang="en-US" sz="125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双备份演练（音轨＋麦）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5074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风险预案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5440680"/>
            <a:ext cx="3557016" cy="548640"/>
          </a:xfrm>
          <a:prstGeom prst="roundRect">
            <a:avLst>
              <a:gd name="adj" fmla="val 10000"/>
            </a:avLst>
          </a:prstGeom>
          <a:solidFill>
            <a:srgbClr val="FBF7F7"/>
          </a:solidFill>
          <a:ln w="12700">
            <a:solidFill>
              <a:srgbClr val="E5D8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5440680"/>
            <a:ext cx="35570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超时 → 删主歌二（省 40″）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315968" y="5440680"/>
            <a:ext cx="3557016" cy="548640"/>
          </a:xfrm>
          <a:prstGeom prst="roundRect">
            <a:avLst>
              <a:gd name="adj" fmla="val 10000"/>
            </a:avLst>
          </a:prstGeom>
          <a:solidFill>
            <a:srgbClr val="FBF7F7"/>
          </a:solidFill>
          <a:ln w="12700">
            <a:solidFill>
              <a:srgbClr val="E5D8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15968" y="5440680"/>
            <a:ext cx="35570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伴奏事故 → U盘＋手机双备份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174736" y="5440680"/>
            <a:ext cx="3557016" cy="548640"/>
          </a:xfrm>
          <a:prstGeom prst="roundRect">
            <a:avLst>
              <a:gd name="adj" fmla="val 10000"/>
            </a:avLst>
          </a:prstGeom>
          <a:solidFill>
            <a:srgbClr val="FBF7F7"/>
          </a:solidFill>
          <a:ln w="12700">
            <a:solidFill>
              <a:srgbClr val="E5D8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74736" y="5440680"/>
            <a:ext cx="35570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队员缺勤 → 排面替补位预置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10881360" y="6419088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 / 14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B1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1280160"/>
            <a:ext cx="4114800" cy="4114800"/>
          </a:xfrm>
          <a:prstGeom prst="star5">
            <a:avLst/>
          </a:prstGeom>
          <a:solidFill>
            <a:srgbClr val="3A1D20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1600200"/>
            <a:ext cx="310896" cy="310896"/>
          </a:xfrm>
          <a:prstGeom prst="star5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148840"/>
            <a:ext cx="10332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如果胜利不属于这样的队伍，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还会属于谁呢？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3794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——《丰碑》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4526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2C25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走好我们这一代人的长征路——预祝演出成功！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14400" y="5897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C4C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《精忠·丰碑》节目组 · 2026 年 9 月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《精忠·丰碑》六分钟节目设计方案</dc:title>
  <dc:subject>PptxGenJS Presentation</dc:subject>
  <dc:creator>节目筹备组</dc:creator>
  <cp:lastModifiedBy>节目筹备组</cp:lastModifiedBy>
  <cp:revision>1</cp:revision>
  <dcterms:created xsi:type="dcterms:W3CDTF">2026-09-06T10:26:50Z</dcterms:created>
  <dcterms:modified xsi:type="dcterms:W3CDTF">2026-09-06T10:26:50Z</dcterms:modified>
</cp:coreProperties>
</file>