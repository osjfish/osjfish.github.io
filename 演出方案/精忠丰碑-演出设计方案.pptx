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封面。节目名把两个作品各取一字：《丰碑》的“丰碑”与《精忠报国》的“精忠”。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时间轴按秒对齐预录音轨：风雪声15″、朗诵105″、转场10″、合唱208″（原曲3′28″）、定格17″。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群诵=合唱四排齐声。三次群诵分别是：“风更狂了”“没有人回答”“晶莹的丰碑”。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“他就是军需处长”之后必须留足2秒静场，这是全篇最大的泪点，不要抢。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合唱若用简谱版调性偏低，男领唱可降八度处理；间奏齐诵务必卡在20秒内收字。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话筒全为立式架：麦1/麦2给领诵，麦3/麦4给领唱。朗诵段领诵从两侧口上前区，避免穿越队形。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每次合排全程掐表并录像；目标5′45″，给上下场留15秒余量。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188720"/>
            <a:ext cx="4297680" cy="4297680"/>
          </a:xfrm>
          <a:prstGeom prst="star5">
            <a:avLst/>
          </a:prstGeom>
          <a:solidFill>
            <a:srgbClr val="3A1D2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298448"/>
            <a:ext cx="329184" cy="329184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班级合唱比赛 · 六分钟节目设计方案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《精忠·丰碑》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C2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情景朗诵《丰碑》 × 合唱《精忠报国》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2245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朗诵与合唱有机融合 · 至少一个部分与长征有关 · 全程 6 分钟以内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5806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排合唱队形　　　4 支话筒　　　可预录音轨对口型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5806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节目筹备组 · 2026 年 9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一座丰碑 × 一曲报国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节目概览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6′00″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总时长（上限）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12110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+ 1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12110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 × 合唱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12110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7021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+ 2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67021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+ 领唱（人）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7021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1931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× 13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221931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合唱队形（以52人计）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1931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6842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76842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话筒（支）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76842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108960"/>
            <a:ext cx="12188952" cy="969264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109087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立意：以长征雪山上军需处长的牺牲讲“忠”，以《精忠报国》的歌声答“魂”——一座晶莹的丰碑，一曲嘹亮的报国。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①　至少一个部分与长征有关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朗诵《丰碑》——红军翻越雪山、军需处长冻亡的真实故事，课文级红色经典。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15968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②　包含合唱与朗诵，有机融合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5424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前奏齐诵转场接唱；间奏齐诵《过雪山草地》二次点题；尾声敬礼定格同台收束。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74736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③　从上场到下场不超过 6 分钟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 1′45″ ＋ 合唱 3′28″ ＋ 暗场/转场/定格 42″ ＝ 5′55″，留安全余量。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选题逻辑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创意阐述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101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A61B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《丰碑》· 情景朗诵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长征 · 雪山 · 军需处长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825496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过雪山真实故事，课文级经典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命中命题：与长征有关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38744" y="1874520"/>
            <a:ext cx="33101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A61B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《精忠报国》· 合唱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67344" y="2514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豪情 · 忠魂 · 报国志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67344" y="2825496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全民传唱的主旋律军歌风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67344" y="32004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命中命题：主旋律 · 正能量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21224" y="1892808"/>
            <a:ext cx="1755648" cy="1755648"/>
          </a:xfrm>
          <a:prstGeom prst="ellipse">
            <a:avLst/>
          </a:prstGeom>
          <a:solidFill>
            <a:srgbClr val="A61B29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892808"/>
            <a:ext cx="175564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精忠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丰碑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059936" y="2770632"/>
            <a:ext cx="1051560" cy="0"/>
          </a:xfrm>
          <a:prstGeom prst="line">
            <a:avLst/>
          </a:prstGeom>
          <a:noFill/>
          <a:ln w="25400">
            <a:solidFill>
              <a:srgbClr val="A61B2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77456" y="2770632"/>
            <a:ext cx="1051560" cy="0"/>
          </a:xfrm>
          <a:prstGeom prst="line">
            <a:avLst/>
          </a:prstGeom>
          <a:noFill/>
          <a:ln w="25400">
            <a:solidFill>
              <a:srgbClr val="A61B29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前奏齐诵转场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“红军不怕远征难”压着鼓点起，朗诵无缝接唱，避免报幕式割裂。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15968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15968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间奏二次点题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15968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20″间奏齐诵“红军都是钢铁汉”，长征题材再点一次，呼应最严命题。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74736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74736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尾声敬礼定格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74736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尾句渐慢收拍，全体注目礼定格5″，朗诵者与合唱队同台收束。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74552" cy="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05332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时长账：朗诵 1′45″ ＋ 合唱 3′28″ ＋ 暗场/转场/定格 42″ ＝ 5′55″，与第 4 页时间轴一致。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 5′55″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六分钟时间轴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76390" cy="777240"/>
          </a:xfrm>
          <a:prstGeom prst="rect">
            <a:avLst/>
          </a:prstGeom>
          <a:solidFill>
            <a:srgbClr val="3A1D20"/>
          </a:solidFill>
          <a:ln/>
        </p:spPr>
      </p:sp>
      <p:sp>
        <p:nvSpPr>
          <p:cNvPr id="6" name="Shape 4"/>
          <p:cNvSpPr/>
          <p:nvPr/>
        </p:nvSpPr>
        <p:spPr>
          <a:xfrm>
            <a:off x="933590" y="1920240"/>
            <a:ext cx="3334727" cy="777240"/>
          </a:xfrm>
          <a:prstGeom prst="rect">
            <a:avLst/>
          </a:prstGeom>
          <a:solidFill>
            <a:srgbClr val="A61B29"/>
          </a:solidFill>
          <a:ln/>
        </p:spPr>
      </p:sp>
      <p:sp>
        <p:nvSpPr>
          <p:cNvPr id="7" name="Text 5"/>
          <p:cNvSpPr/>
          <p:nvPr/>
        </p:nvSpPr>
        <p:spPr>
          <a:xfrm>
            <a:off x="1043318" y="1920240"/>
            <a:ext cx="311527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朗诵《丰碑》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68316" y="1920240"/>
            <a:ext cx="317593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4585909" y="1920240"/>
            <a:ext cx="6605935" cy="777240"/>
          </a:xfrm>
          <a:prstGeom prst="rect">
            <a:avLst/>
          </a:prstGeom>
          <a:solidFill>
            <a:srgbClr val="7C1420"/>
          </a:solidFill>
          <a:ln/>
        </p:spPr>
      </p:sp>
      <p:sp>
        <p:nvSpPr>
          <p:cNvPr id="10" name="Text 8"/>
          <p:cNvSpPr/>
          <p:nvPr/>
        </p:nvSpPr>
        <p:spPr>
          <a:xfrm>
            <a:off x="4695637" y="1920240"/>
            <a:ext cx="638647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合唱《精忠报国》（含间奏齐诵）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91844" y="1920240"/>
            <a:ext cx="539908" cy="777240"/>
          </a:xfrm>
          <a:prstGeom prst="rect">
            <a:avLst/>
          </a:prstGeom>
          <a:solidFill>
            <a:srgbClr val="5A2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暗场 15″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" y="1792224"/>
            <a:ext cx="0" cy="12801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48132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齐诵转场 10″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0308" y="1792224"/>
            <a:ext cx="0" cy="12801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0192" y="14813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定格 17″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457432" y="1792224"/>
            <a:ext cx="0" cy="12801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3048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74552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5:55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2715768"/>
            <a:ext cx="0" cy="31089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026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0:15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0288" y="2715768"/>
            <a:ext cx="0" cy="31089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3026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2:10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暗场 0:00–0:15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风雪声渐起，LED雪山剪影亮起，暗场起光。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12110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朗诵 0:15–2:00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12110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领诵4人讲述军需处长故事，群诵三次插入。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67021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转场 2:00–2:10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67021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“红军不怕远征难”压鼓点，全体起唱。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1931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合唱 2:10–5:38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1931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主歌→副歌→间奏齐诵20″→主歌→副歌。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76842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定格 5:38–5:55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76842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尾句渐慢，全体注目礼定格5″，音乐收。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5779008"/>
            <a:ext cx="274320" cy="274320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57058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彩排验收：全程掐表 5′45″ ± 15″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李本深《丰碑》改编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朗诵分工稿（上）：风雪山林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0"/>
                <a:gridCol w="3090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台词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表演处理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风雪声渐起 5 秒；LED 亮出雪山剪影，全场暗场起光。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音乐先行，压住安静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1935 年冬，云中山，大雪封山。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声音清冷，字字落地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红军队伍在冰天雪地里艰难地前进。狂风呼啸，大雪纷飞，似乎要吞掉这支装备很差的队伍。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沉缓厚重，压过风声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将军把马让给了重伤员。他率领战士们向前挺进，在冰雪中为后续部队开辟通路。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平稳叙述，渐入情境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这支队伍能不能经受住这样严峻的考验呢？将军思索着——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自问留白，放慢半拍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风，更狂了。雪，更大了。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四排低声，由弱渐起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队伍忽然放慢了速度——前面有人冻死了！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骤然揪起，语速加快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一个冻僵的老战士，依靠光秃秃的树干坐着。他一动不动，好似一尊塑像，身上落满了雪。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最慢一段，逐字描摹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单薄破旧的衣服，紧紧地贴在他的身上。他的神态，十分镇定，十分安详。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轻声细数，带着心疼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改编自李本深《丰碑》（统编教材课文，又名《军需处长》），为控时略作删减；领诵站位见第 8 页队形图。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李本深《丰碑》改编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朗诵分工稿（下）：晶莹的丰碑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0"/>
                <a:gridCol w="3090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台词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表演处理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把军需处长给我叫来！为什么不给他发棉衣？！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怒音放开，全篇最响之一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呼啸的狂风淹没了将军的话音。没有人回答，也没有人走开。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低而齐，风声衬人声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有人小声告诉将军——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欲言又止，吊住全场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……他就是军需处长。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极轻极慢，静场两秒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将军愣住了，久久地站在雪地里。他深深吸了一口气，缓缓举起右手——向军需处长敬了一个军礼！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随句敬礼，全体注目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风更狂了，雪更大了。大雪很快覆盖了他——他，成了一座晶莹的丰碑！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“晶莹的丰碑”一字一顿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晶莹的——丰碑——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回声式，由弱到强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那无数沉重而坚定的脚步声，似乎在告诉人们：如果胜利不属于这样的队伍，还会属于谁呢？！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层层推高，问句砸实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红军不怕远征难，万水千山只等闲！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最强音；《精忠报国》鼓点从此句压进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末句“红军不怕远征难”出自毛泽东《七律·长征》，与《精忠报国》前奏战鼓重叠，完成朗诵→合唱的无缝转场。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萧华《长征组歌》点题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合唱编排：《精忠报国》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37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前奏 · 齐诵压鼓点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737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15″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871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主歌一 · 男领唱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2487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91256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369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副歌一 · 全体合唱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23697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867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间奏 · 插入齐诵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9867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20″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690872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7365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主歌二 · 可删控时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47365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40″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8F0F0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86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副歌二＋尾句 · 定格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5486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58″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20640" y="1691640"/>
            <a:ext cx="6611112" cy="182880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1828800"/>
            <a:ext cx="6172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间奏齐诵（二次点题长征）——《长征组歌·过雪山草地》萧华词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21284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雪皑皑，野茫茫，高原寒，炊断粮。红军都是钢铁汉，千锤百炼不怕难！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3035808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四排齐声，音量盖过间奏旋律；两句在 20″ 间奏内完成，收字正好落在副歌前。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767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控时与删减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4133088"/>
            <a:ext cx="6611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全曲约 3′28″：彩排若超时，删主歌二，可省约 40″；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尾句“堂堂中国要让四方来贺”渐慢渐强，收拍全体行注目礼定格 5″；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合唱队形全程不动，只有领诵在朗诵段进入前区。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领唱与声部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5806440"/>
            <a:ext cx="661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主歌一：男领唱独唱（麦3）；主歌二：男＋女对唱（如保留）；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副歌：领唱带唱，四排合唱铺底；女声部二声部视排练水平加花。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排合唱 × 前区领诵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舞台队形与调度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08792" cy="4114800"/>
          </a:xfrm>
          <a:prstGeom prst="rect">
            <a:avLst/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285232"/>
            <a:ext cx="1090879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233672" y="5340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台口 · 观众席方向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627632"/>
            <a:ext cx="182880" cy="18288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572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1627632"/>
            <a:ext cx="182880" cy="182880"/>
          </a:xfrm>
          <a:prstGeom prst="rect">
            <a:avLst/>
          </a:prstGeom>
          <a:solidFill>
            <a:srgbClr val="7C1420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/ 领唱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1627632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5727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72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朗诵段：领诵 4 人上前区；歌曲段：退回一排两翼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一排（前）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00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186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8" name="Shape 16"/>
          <p:cNvSpPr/>
          <p:nvPr/>
        </p:nvSpPr>
        <p:spPr>
          <a:xfrm>
            <a:off x="37673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596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132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18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3" name="Shape 21"/>
          <p:cNvSpPr/>
          <p:nvPr/>
        </p:nvSpPr>
        <p:spPr>
          <a:xfrm>
            <a:off x="65105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4" name="Shape 22"/>
          <p:cNvSpPr/>
          <p:nvPr/>
        </p:nvSpPr>
        <p:spPr>
          <a:xfrm>
            <a:off x="705916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0780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7" name="Shape 25"/>
          <p:cNvSpPr/>
          <p:nvPr/>
        </p:nvSpPr>
        <p:spPr>
          <a:xfrm>
            <a:off x="87050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537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6393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二排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700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1" name="Shape 29"/>
          <p:cNvSpPr/>
          <p:nvPr/>
        </p:nvSpPr>
        <p:spPr>
          <a:xfrm>
            <a:off x="32186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2" name="Shape 30"/>
          <p:cNvSpPr/>
          <p:nvPr/>
        </p:nvSpPr>
        <p:spPr>
          <a:xfrm>
            <a:off x="37673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3" name="Shape 31"/>
          <p:cNvSpPr/>
          <p:nvPr/>
        </p:nvSpPr>
        <p:spPr>
          <a:xfrm>
            <a:off x="431596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4" name="Shape 32"/>
          <p:cNvSpPr/>
          <p:nvPr/>
        </p:nvSpPr>
        <p:spPr>
          <a:xfrm>
            <a:off x="486460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5" name="Shape 33"/>
          <p:cNvSpPr/>
          <p:nvPr/>
        </p:nvSpPr>
        <p:spPr>
          <a:xfrm>
            <a:off x="54132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6" name="Shape 34"/>
          <p:cNvSpPr/>
          <p:nvPr/>
        </p:nvSpPr>
        <p:spPr>
          <a:xfrm>
            <a:off x="59618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05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8" name="Shape 36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9" name="Shape 37"/>
          <p:cNvSpPr/>
          <p:nvPr/>
        </p:nvSpPr>
        <p:spPr>
          <a:xfrm>
            <a:off x="760780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564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1" name="Shape 39"/>
          <p:cNvSpPr/>
          <p:nvPr/>
        </p:nvSpPr>
        <p:spPr>
          <a:xfrm>
            <a:off x="87050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2" name="Shape 40"/>
          <p:cNvSpPr/>
          <p:nvPr/>
        </p:nvSpPr>
        <p:spPr>
          <a:xfrm>
            <a:off x="92537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30723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三排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6700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5" name="Shape 43"/>
          <p:cNvSpPr/>
          <p:nvPr/>
        </p:nvSpPr>
        <p:spPr>
          <a:xfrm>
            <a:off x="32186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6" name="Shape 44"/>
          <p:cNvSpPr/>
          <p:nvPr/>
        </p:nvSpPr>
        <p:spPr>
          <a:xfrm>
            <a:off x="37673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7" name="Shape 45"/>
          <p:cNvSpPr/>
          <p:nvPr/>
        </p:nvSpPr>
        <p:spPr>
          <a:xfrm>
            <a:off x="431596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8" name="Shape 46"/>
          <p:cNvSpPr/>
          <p:nvPr/>
        </p:nvSpPr>
        <p:spPr>
          <a:xfrm>
            <a:off x="486460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9" name="Shape 47"/>
          <p:cNvSpPr/>
          <p:nvPr/>
        </p:nvSpPr>
        <p:spPr>
          <a:xfrm>
            <a:off x="54132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0" name="Shape 48"/>
          <p:cNvSpPr/>
          <p:nvPr/>
        </p:nvSpPr>
        <p:spPr>
          <a:xfrm>
            <a:off x="59618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1" name="Shape 49"/>
          <p:cNvSpPr/>
          <p:nvPr/>
        </p:nvSpPr>
        <p:spPr>
          <a:xfrm>
            <a:off x="65105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2" name="Shape 50"/>
          <p:cNvSpPr/>
          <p:nvPr/>
        </p:nvSpPr>
        <p:spPr>
          <a:xfrm>
            <a:off x="705916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3" name="Shape 51"/>
          <p:cNvSpPr/>
          <p:nvPr/>
        </p:nvSpPr>
        <p:spPr>
          <a:xfrm>
            <a:off x="760780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4" name="Shape 52"/>
          <p:cNvSpPr/>
          <p:nvPr/>
        </p:nvSpPr>
        <p:spPr>
          <a:xfrm>
            <a:off x="81564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5" name="Shape 53"/>
          <p:cNvSpPr/>
          <p:nvPr/>
        </p:nvSpPr>
        <p:spPr>
          <a:xfrm>
            <a:off x="87050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6" name="Shape 54"/>
          <p:cNvSpPr/>
          <p:nvPr/>
        </p:nvSpPr>
        <p:spPr>
          <a:xfrm>
            <a:off x="92537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25054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四排（后）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26700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59" name="Shape 57"/>
          <p:cNvSpPr/>
          <p:nvPr/>
        </p:nvSpPr>
        <p:spPr>
          <a:xfrm>
            <a:off x="32186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0" name="Shape 58"/>
          <p:cNvSpPr/>
          <p:nvPr/>
        </p:nvSpPr>
        <p:spPr>
          <a:xfrm>
            <a:off x="37673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1" name="Shape 59"/>
          <p:cNvSpPr/>
          <p:nvPr/>
        </p:nvSpPr>
        <p:spPr>
          <a:xfrm>
            <a:off x="431596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2" name="Shape 60"/>
          <p:cNvSpPr/>
          <p:nvPr/>
        </p:nvSpPr>
        <p:spPr>
          <a:xfrm>
            <a:off x="486460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3" name="Shape 61"/>
          <p:cNvSpPr/>
          <p:nvPr/>
        </p:nvSpPr>
        <p:spPr>
          <a:xfrm>
            <a:off x="54132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4" name="Shape 62"/>
          <p:cNvSpPr/>
          <p:nvPr/>
        </p:nvSpPr>
        <p:spPr>
          <a:xfrm>
            <a:off x="59618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105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6" name="Shape 64"/>
          <p:cNvSpPr/>
          <p:nvPr/>
        </p:nvSpPr>
        <p:spPr>
          <a:xfrm>
            <a:off x="705916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8" name="Shape 66"/>
          <p:cNvSpPr/>
          <p:nvPr/>
        </p:nvSpPr>
        <p:spPr>
          <a:xfrm>
            <a:off x="81564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9" name="Shape 67"/>
          <p:cNvSpPr/>
          <p:nvPr/>
        </p:nvSpPr>
        <p:spPr>
          <a:xfrm>
            <a:off x="87050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70" name="Shape 68"/>
          <p:cNvSpPr/>
          <p:nvPr/>
        </p:nvSpPr>
        <p:spPr>
          <a:xfrm>
            <a:off x="92537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71" name="Shape 69"/>
          <p:cNvSpPr/>
          <p:nvPr/>
        </p:nvSpPr>
        <p:spPr>
          <a:xfrm>
            <a:off x="100584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A61B29"/>
          </a:solidFill>
          <a:ln/>
        </p:spPr>
      </p:sp>
      <p:sp>
        <p:nvSpPr>
          <p:cNvPr id="72" name="Text 70"/>
          <p:cNvSpPr/>
          <p:nvPr/>
        </p:nvSpPr>
        <p:spPr>
          <a:xfrm>
            <a:off x="100584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女领①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256032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A61B29"/>
          </a:solidFill>
          <a:ln/>
        </p:spPr>
      </p:sp>
      <p:sp>
        <p:nvSpPr>
          <p:cNvPr id="74" name="Text 72"/>
          <p:cNvSpPr/>
          <p:nvPr/>
        </p:nvSpPr>
        <p:spPr>
          <a:xfrm>
            <a:off x="256032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男领①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841248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7C1420"/>
          </a:solidFill>
          <a:ln/>
        </p:spPr>
      </p:sp>
      <p:sp>
        <p:nvSpPr>
          <p:cNvPr id="76" name="Text 74"/>
          <p:cNvSpPr/>
          <p:nvPr/>
        </p:nvSpPr>
        <p:spPr>
          <a:xfrm>
            <a:off x="841248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男领唱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996696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7C1420"/>
          </a:solidFill>
          <a:ln/>
        </p:spPr>
      </p:sp>
      <p:sp>
        <p:nvSpPr>
          <p:cNvPr id="78" name="Text 76"/>
          <p:cNvSpPr/>
          <p:nvPr/>
        </p:nvSpPr>
        <p:spPr>
          <a:xfrm>
            <a:off x="996696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女领唱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148132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0" name="Text 78"/>
          <p:cNvSpPr/>
          <p:nvPr/>
        </p:nvSpPr>
        <p:spPr>
          <a:xfrm>
            <a:off x="148132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03580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2" name="Text 80"/>
          <p:cNvSpPr/>
          <p:nvPr/>
        </p:nvSpPr>
        <p:spPr>
          <a:xfrm>
            <a:off x="303580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麦2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88796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4" name="Text 82"/>
          <p:cNvSpPr/>
          <p:nvPr/>
        </p:nvSpPr>
        <p:spPr>
          <a:xfrm>
            <a:off x="888796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044244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6" name="Text 84"/>
          <p:cNvSpPr/>
          <p:nvPr/>
        </p:nvSpPr>
        <p:spPr>
          <a:xfrm>
            <a:off x="1044244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麦4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52 人为例（4排×13，按实际人数增减）；排面呈微弧形，前排强、后排高；若设指挥，站左前角侧身面对合唱队。</a:t>
            </a:r>
            <a:endParaRPr lang="en-US" sz="1250" dirty="0"/>
          </a:p>
        </p:txBody>
      </p:sp>
      <p:sp>
        <p:nvSpPr>
          <p:cNvPr id="89" name="Text 86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支话筒 · 预录音轨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话筒分配与对口型录音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麦1 左前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女领诵①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朗诵主麦；歌曲段收回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麦2 左中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男领诵①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朗诵主麦；歌曲段收回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麦3 右前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主歌一独唱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麦4 右中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主歌二对唱、副歌领唱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5577840" cy="105156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77640"/>
            <a:ext cx="51755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群诵与合唱不依赖话筒：现场扩声以预录音轨为主，4 支真麦只保领诵领唱。麦1/麦2 在歌曲段收走或让给领唱。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1691640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对口型录音 · 五步流程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31152" y="212140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定稿 · 标注点位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31152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把音效、齐诵、起唱的准确时间点写进录音脚本。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29900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29626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进场实录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31152" y="32644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在演出场地用同一套功放话筒录整条：朗诵＋齐诵＋合唱＋伴奏。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383133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31152" y="380390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混音单轨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31152" y="41056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总长 5′40″，首尾各留 2″ 静音；U盘＋手机双备份。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467258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31152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对口型排练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31152" y="49469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领诵逐句对，群诵小口型，动作卡节拍。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0" y="551383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31152" y="54864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现场放带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931152" y="5788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报幕后起播；领诵另留一支真麦应急。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雪山与红旗的意象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舞美：服装 · 造型 · LED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全体深色上装＋红围巾（雪山·红旗意象）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4 人戴白手套，手势清晰可见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领唱同款另佩徽章或绶带区分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鞋深色统一，忌白鞋抢镜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造型与灯光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朗诵段合唱肃立，“丰碑”句齐抬头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0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尾句收拍全体注目礼定格 5″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暗场起光→副歌顶光全亮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若无灯光条件，用 LED 明暗替代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与音效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30768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背景四段：风雪山林→雪山日出→红旗长城→丰碑剪影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30768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650224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音效：风雪声 15″ 渐入＋战鼓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30768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8650224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背景素材见第 11 页资源表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30768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免费音效：爱给网 aigei.com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5897880"/>
            <a:ext cx="11274552" cy="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0167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播放与音效由 1 名同学跟预录音轨一键触发：同一台电脑、同一份音轨，避免二次对拍。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齐越节 · 央视 · B站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学习资源与模仿对象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5330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在哪看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2021 届齐越节《丰碑》朗诵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朗诵处理的直接范本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B站搜索：丰碑 齐越节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情景诵演《丰碑》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舞台调度与情景化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bilibili.com/video/BV1Dv411H7r1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齐越节《我的墓碑》（湘江战役）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叙事感与停顿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bilibili.com/video/BV1pe4y1S7gY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齐越奖《吹号者》（第21届）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气势与声音造型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bilibili.com/video/BV13V411m7xr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历届齐越节获奖作品名单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挑选更多自备稿件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zhuanlan.zhihu.com/p/386497564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国家大剧院《七律·长征》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专业级技巧对标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tv.cctv.com 搜索：七律·长征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长征组歌·1976 舞台艺术片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朗诵×合唱融合教科书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bilibili.com/video/BV1Ex41147be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廖昌永《过雪山草地》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间奏齐诵的出处范本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bilibili.com/video/BV1Xf4y1i7RR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长征朗诵背景视频素材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大屏背景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bilibili.com/video/BV15Q4y137ww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用法：先全组同看《我的墓碑》学停顿，再逐句仿齐越节《丰碑》；排练时投屏跟读。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四周冲刺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排练计划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定稿 · 模仿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 4 领诵＋2 领唱人选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逐句仿齐越节《丰碑》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合唱分声部学谱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9544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分线合排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19272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朗诵线掐表 ≤1′45″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合唱线连贯成形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按队形图落位走位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81344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 · 录音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1344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朗诵×合唱拼接合乐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进场录对口型音轨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 5′45″±15″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33688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43416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带麦彩排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43416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带麦全流程彩排×3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摄像回看逐帧修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双备份演练（音轨＋麦）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 → 删主歌二（省 40″）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5968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伴奏事故 → U盘＋手机双备份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74736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队员缺勤 → 排面替补位预置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80160"/>
            <a:ext cx="4114800" cy="4114800"/>
          </a:xfrm>
          <a:prstGeom prst="star5">
            <a:avLst/>
          </a:prstGeom>
          <a:solidFill>
            <a:srgbClr val="3A1D2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600200"/>
            <a:ext cx="310896" cy="310896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如果胜利不属于这样的队伍，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还会属于谁呢？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——《丰碑》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C2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雪掩忠骨处，歌声即回答。预祝演出成功！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《精忠·丰碑》节目组 · 2026 年 9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《精忠·丰碑》六分钟节目设计方案</dc:title>
  <dc:subject>PptxGenJS Presentation</dc:subject>
  <dc:creator>节目筹备组</dc:creator>
  <cp:lastModifiedBy>节目筹备组</cp:lastModifiedBy>
  <cp:revision>1</cp:revision>
  <dcterms:created xsi:type="dcterms:W3CDTF">2026-09-05T18:05:40Z</dcterms:created>
  <dcterms:modified xsi:type="dcterms:W3CDTF">2026-09-05T18:05:40Z</dcterms:modified>
</cp:coreProperties>
</file>